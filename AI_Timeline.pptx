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D08B8BF-82D2-30E0-0AF6-844DFCA10793}">
          <p14:sldIdLst>
            <p14:sldId id="256"/>
          </p14:sldIdLst>
        </p14:section>
        <p14:section name="Foundations and winters" id="{406E8122-BF00-D58D-CCB2-A7D58E372A99}">
          <p14:sldIdLst>
            <p14:sldId id="257"/>
          </p14:sldIdLst>
        </p14:section>
        <p14:section name="The comeback" id="{781B93EA-3264-0D97-1510-3ABE5CAA96BA}">
          <p14:sldIdLst>
            <p14:sldId id="258"/>
          </p14:sldIdLst>
        </p14:section>
        <p14:section name="What powered it" id="{99C55E02-2E7B-BF68-91DB-83EA0C5319D6}">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1444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did not grow in a straight line. It went through booms of excitement and two "AI winters" when funding and interest collapsed. The orange blocks are boom periods; the blue blocks with snowflakes are the two winters.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pioneers like Turing and McCarthy were very optimistic. When results lagged far behind promises, funding collapsed twice: first after the 1973 Lighthill Report and DARPA cuts, and again in 1987 when the expert-systems and Lisp machine market crashed.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late 1990s, progress returned. Deep Blue won at chess, then in 2012 AlexNet proved deep learning on GPUs. The transformer in 2017 led to GPT models and ChatGPT in 2022. By 2024, AI pioneers won Nobel Prizes, and in 2025 AI reached gold-medal level at the International Mathematical Olympiad.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boom came when three things arrived together: algorithms kept alive through the winters, huge datasets from the internet, and cheap computing power from GPUs and the cloud.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371600"/>
          </a:xfrm>
          <a:prstGeom prst="rect">
            <a:avLst/>
          </a:prstGeom>
          <a:noFill/>
          <a:ln/>
        </p:spPr>
        <p:txBody>
          <a:bodyPr wrap="square" rtlCol="0"/>
          <a:lstStyle>
            <a:lvl1pPr marL="0" indent="0" algn="l">
              <a:buNone/>
              <a:defRPr lang="en-US" sz="5000" b="1" dirty="0">
                <a:solidFill>
                  <a:schemeClr val="bg1"/>
                </a:solidFill>
              </a:defRPr>
            </a:lvl1pPr>
          </a:lstStyle>
          <a:p>
            <a:pPr marL="0" indent="0" algn="l">
              <a:buNone/>
            </a:pPr>
            <a:endParaRPr lang="en-US" sz="5000" dirty="0"/>
          </a:p>
        </p:txBody>
      </p:sp>
      <p:sp>
        <p:nvSpPr>
          <p:cNvPr id="3" name="Text 0"/>
          <p:cNvSpPr>
            <a:spLocks noGrp="1"/>
          </p:cNvSpPr>
          <p:nvPr>
            <p:ph type="body" idx="101" hasCustomPrompt="1"/>
          </p:nvPr>
        </p:nvSpPr>
        <p:spPr>
          <a:xfrm>
            <a:off x="731520" y="3383280"/>
            <a:ext cx="10698480" cy="822960"/>
          </a:xfrm>
          <a:prstGeom prst="rect">
            <a:avLst/>
          </a:prstGeom>
          <a:noFill/>
          <a:ln/>
        </p:spPr>
        <p:txBody>
          <a:bodyPr wrap="square" rtlCol="0"/>
          <a:lstStyle>
            <a:lvl1pPr marL="0" indent="0">
              <a:buNone/>
              <a:defRPr lang="en-US" sz="2200" dirty="0">
                <a:solidFill>
                  <a:schemeClr val="accent6"/>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371600"/>
          </a:xfrm>
          <a:prstGeom prst="rect">
            <a:avLst/>
          </a:prstGeom>
          <a:noFill/>
          <a:ln/>
        </p:spPr>
        <p:txBody>
          <a:bodyPr wrap="square" lIns="0" tIns="0" rIns="0" bIns="0" rtlCol="0" anchor="b"/>
          <a:lstStyle/>
          <a:p>
            <a:pPr marL="0" indent="0" algn="l">
              <a:buNone/>
            </a:pPr>
            <a:r>
              <a:rPr lang="en-US" sz="5000" b="1" dirty="0">
                <a:solidFill>
                  <a:schemeClr val="bg1"/>
                </a:solidFill>
              </a:rPr>
              <a:t>AI: From Inception to Today</a:t>
            </a:r>
            <a:endParaRPr lang="en-US" sz="5000" dirty="0"/>
          </a:p>
        </p:txBody>
      </p:sp>
      <p:sp>
        <p:nvSpPr>
          <p:cNvPr id="3" name="Text 0"/>
          <p:cNvSpPr>
            <a:spLocks noGrp="1"/>
          </p:cNvSpPr>
          <p:nvPr>
            <p:ph type="body" idx="101" hasCustomPrompt="1"/>
          </p:nvPr>
        </p:nvSpPr>
        <p:spPr>
          <a:xfrm>
            <a:off x="731520" y="3383280"/>
            <a:ext cx="10698480" cy="822960"/>
          </a:xfrm>
          <a:prstGeom prst="rect">
            <a:avLst/>
          </a:prstGeom>
          <a:noFill/>
          <a:ln/>
        </p:spPr>
        <p:txBody>
          <a:bodyPr wrap="square" lIns="0" tIns="0" rIns="0" bIns="0" rtlCol="0" anchor="t"/>
          <a:lstStyle/>
          <a:p>
            <a:pPr marL="0" indent="0">
              <a:buNone/>
            </a:pPr>
            <a:r>
              <a:rPr lang="en-US" sz="2200" dirty="0">
                <a:solidFill>
                  <a:schemeClr val="accent6"/>
                </a:solidFill>
              </a:rPr>
              <a:t>Key milestones, AI winters and the people behind them, 1950 to 2025</a:t>
            </a:r>
            <a:endParaRPr lang="en-US" sz="2200" dirty="0"/>
          </a:p>
        </p:txBody>
      </p:sp>
      <p:sp>
        <p:nvSpPr>
          <p:cNvPr id="4" name="Era block 1"/>
          <p:cNvSpPr/>
          <p:nvPr/>
        </p:nvSpPr>
        <p:spPr>
          <a:xfrm>
            <a:off x="731520" y="4617720"/>
            <a:ext cx="1709928" cy="164592"/>
          </a:xfrm>
          <a:prstGeom prst="rect">
            <a:avLst/>
          </a:prstGeom>
          <a:solidFill>
            <a:schemeClr val="accent1"/>
          </a:solidFill>
          <a:ln/>
        </p:spPr>
      </p:sp>
      <p:sp>
        <p:nvSpPr>
          <p:cNvPr id="5" name="Era label 1"/>
          <p:cNvSpPr txBox="1"/>
          <p:nvPr/>
        </p:nvSpPr>
        <p:spPr>
          <a:xfrm>
            <a:off x="731520" y="4846320"/>
            <a:ext cx="1709928" cy="365760"/>
          </a:xfrm>
          <a:prstGeom prst="rect">
            <a:avLst/>
          </a:prstGeom>
          <a:noFill/>
          <a:ln/>
        </p:spPr>
        <p:txBody>
          <a:bodyPr wrap="square" lIns="0" tIns="0" rIns="0" bIns="0" rtlCol="0" anchor="ctr"/>
          <a:lstStyle/>
          <a:p>
            <a:pPr marL="0" indent="0">
              <a:buNone/>
            </a:pPr>
            <a:r>
              <a:rPr lang="en-US" sz="1400" dirty="0">
                <a:solidFill>
                  <a:schemeClr val="accent6"/>
                </a:solidFill>
              </a:rPr>
              <a:t>1950s–60s</a:t>
            </a:r>
            <a:endParaRPr lang="en-US" sz="1400" dirty="0"/>
          </a:p>
        </p:txBody>
      </p:sp>
      <p:sp>
        <p:nvSpPr>
          <p:cNvPr id="6" name="Era block 2"/>
          <p:cNvSpPr/>
          <p:nvPr/>
        </p:nvSpPr>
        <p:spPr>
          <a:xfrm>
            <a:off x="2514600" y="4617720"/>
            <a:ext cx="1709928" cy="164592"/>
          </a:xfrm>
          <a:prstGeom prst="rect">
            <a:avLst/>
          </a:prstGeom>
          <a:solidFill>
            <a:schemeClr val="accent2"/>
          </a:solidFill>
          <a:ln/>
        </p:spPr>
      </p:sp>
      <p:sp>
        <p:nvSpPr>
          <p:cNvPr id="7" name="Era label 2"/>
          <p:cNvSpPr txBox="1"/>
          <p:nvPr/>
        </p:nvSpPr>
        <p:spPr>
          <a:xfrm>
            <a:off x="2514600" y="4846320"/>
            <a:ext cx="1709928" cy="365760"/>
          </a:xfrm>
          <a:prstGeom prst="rect">
            <a:avLst/>
          </a:prstGeom>
          <a:noFill/>
          <a:ln/>
        </p:spPr>
        <p:txBody>
          <a:bodyPr wrap="square" lIns="0" tIns="0" rIns="0" bIns="0" rtlCol="0" anchor="ctr"/>
          <a:lstStyle/>
          <a:p>
            <a:pPr marL="0" indent="0">
              <a:buNone/>
            </a:pPr>
            <a:r>
              <a:rPr lang="en-US" sz="1400" dirty="0">
                <a:solidFill>
                  <a:schemeClr val="accent6"/>
                </a:solidFill>
              </a:rPr>
              <a:t>1974–80</a:t>
            </a:r>
            <a:endParaRPr lang="en-US" sz="1400" dirty="0"/>
          </a:p>
        </p:txBody>
      </p:sp>
      <p:sp>
        <p:nvSpPr>
          <p:cNvPr id="8" name="Era block 3"/>
          <p:cNvSpPr/>
          <p:nvPr/>
        </p:nvSpPr>
        <p:spPr>
          <a:xfrm>
            <a:off x="4297680" y="4617720"/>
            <a:ext cx="1709928" cy="164592"/>
          </a:xfrm>
          <a:prstGeom prst="rect">
            <a:avLst/>
          </a:prstGeom>
          <a:solidFill>
            <a:schemeClr val="accent1"/>
          </a:solidFill>
          <a:ln/>
        </p:spPr>
      </p:sp>
      <p:sp>
        <p:nvSpPr>
          <p:cNvPr id="9" name="Era label 3"/>
          <p:cNvSpPr txBox="1"/>
          <p:nvPr/>
        </p:nvSpPr>
        <p:spPr>
          <a:xfrm>
            <a:off x="4297680" y="4846320"/>
            <a:ext cx="1709928" cy="365760"/>
          </a:xfrm>
          <a:prstGeom prst="rect">
            <a:avLst/>
          </a:prstGeom>
          <a:noFill/>
          <a:ln/>
        </p:spPr>
        <p:txBody>
          <a:bodyPr wrap="square" lIns="0" tIns="0" rIns="0" bIns="0" rtlCol="0" anchor="ctr"/>
          <a:lstStyle/>
          <a:p>
            <a:pPr marL="0" indent="0">
              <a:buNone/>
            </a:pPr>
            <a:r>
              <a:rPr lang="en-US" sz="1400" dirty="0">
                <a:solidFill>
                  <a:schemeClr val="accent6"/>
                </a:solidFill>
              </a:rPr>
              <a:t>1980s</a:t>
            </a:r>
            <a:endParaRPr lang="en-US" sz="1400" dirty="0"/>
          </a:p>
        </p:txBody>
      </p:sp>
      <p:sp>
        <p:nvSpPr>
          <p:cNvPr id="10" name="Era block 4"/>
          <p:cNvSpPr/>
          <p:nvPr/>
        </p:nvSpPr>
        <p:spPr>
          <a:xfrm>
            <a:off x="6080760" y="4617720"/>
            <a:ext cx="1709928" cy="164592"/>
          </a:xfrm>
          <a:prstGeom prst="rect">
            <a:avLst/>
          </a:prstGeom>
          <a:solidFill>
            <a:schemeClr val="accent2"/>
          </a:solidFill>
          <a:ln/>
        </p:spPr>
      </p:sp>
      <p:sp>
        <p:nvSpPr>
          <p:cNvPr id="11" name="Era label 4"/>
          <p:cNvSpPr txBox="1"/>
          <p:nvPr/>
        </p:nvSpPr>
        <p:spPr>
          <a:xfrm>
            <a:off x="6080760" y="4846320"/>
            <a:ext cx="1709928" cy="365760"/>
          </a:xfrm>
          <a:prstGeom prst="rect">
            <a:avLst/>
          </a:prstGeom>
          <a:noFill/>
          <a:ln/>
        </p:spPr>
        <p:txBody>
          <a:bodyPr wrap="square" lIns="0" tIns="0" rIns="0" bIns="0" rtlCol="0" anchor="ctr"/>
          <a:lstStyle/>
          <a:p>
            <a:pPr marL="0" indent="0">
              <a:buNone/>
            </a:pPr>
            <a:r>
              <a:rPr lang="en-US" sz="1400" dirty="0">
                <a:solidFill>
                  <a:schemeClr val="accent6"/>
                </a:solidFill>
              </a:rPr>
              <a:t>1987–93</a:t>
            </a:r>
            <a:endParaRPr lang="en-US" sz="1400" dirty="0"/>
          </a:p>
        </p:txBody>
      </p:sp>
      <p:sp>
        <p:nvSpPr>
          <p:cNvPr id="12" name="Era block 5"/>
          <p:cNvSpPr/>
          <p:nvPr/>
        </p:nvSpPr>
        <p:spPr>
          <a:xfrm>
            <a:off x="7863840" y="4617720"/>
            <a:ext cx="1709928" cy="164592"/>
          </a:xfrm>
          <a:prstGeom prst="rect">
            <a:avLst/>
          </a:prstGeom>
          <a:solidFill>
            <a:schemeClr val="accent1"/>
          </a:solidFill>
          <a:ln/>
        </p:spPr>
      </p:sp>
      <p:sp>
        <p:nvSpPr>
          <p:cNvPr id="13" name="Era label 5"/>
          <p:cNvSpPr txBox="1"/>
          <p:nvPr/>
        </p:nvSpPr>
        <p:spPr>
          <a:xfrm>
            <a:off x="7863840" y="4846320"/>
            <a:ext cx="1709928" cy="365760"/>
          </a:xfrm>
          <a:prstGeom prst="rect">
            <a:avLst/>
          </a:prstGeom>
          <a:noFill/>
          <a:ln/>
        </p:spPr>
        <p:txBody>
          <a:bodyPr wrap="square" lIns="0" tIns="0" rIns="0" bIns="0" rtlCol="0" anchor="ctr"/>
          <a:lstStyle/>
          <a:p>
            <a:pPr marL="0" indent="0">
              <a:buNone/>
            </a:pPr>
            <a:r>
              <a:rPr lang="en-US" sz="1400" dirty="0">
                <a:solidFill>
                  <a:schemeClr val="accent6"/>
                </a:solidFill>
              </a:rPr>
              <a:t>1997–2011</a:t>
            </a:r>
            <a:endParaRPr lang="en-US" sz="1400" dirty="0"/>
          </a:p>
        </p:txBody>
      </p:sp>
      <p:sp>
        <p:nvSpPr>
          <p:cNvPr id="14" name="Era block 6"/>
          <p:cNvSpPr/>
          <p:nvPr/>
        </p:nvSpPr>
        <p:spPr>
          <a:xfrm>
            <a:off x="9646920" y="4617720"/>
            <a:ext cx="1709928" cy="164592"/>
          </a:xfrm>
          <a:prstGeom prst="rect">
            <a:avLst/>
          </a:prstGeom>
          <a:solidFill>
            <a:schemeClr val="accent1"/>
          </a:solidFill>
          <a:ln/>
        </p:spPr>
      </p:sp>
      <p:sp>
        <p:nvSpPr>
          <p:cNvPr id="15" name="Era label 6"/>
          <p:cNvSpPr txBox="1"/>
          <p:nvPr/>
        </p:nvSpPr>
        <p:spPr>
          <a:xfrm>
            <a:off x="9646920" y="4846320"/>
            <a:ext cx="1709928" cy="365760"/>
          </a:xfrm>
          <a:prstGeom prst="rect">
            <a:avLst/>
          </a:prstGeom>
          <a:noFill/>
          <a:ln/>
        </p:spPr>
        <p:txBody>
          <a:bodyPr wrap="square" lIns="0" tIns="0" rIns="0" bIns="0" rtlCol="0" anchor="ctr"/>
          <a:lstStyle/>
          <a:p>
            <a:pPr marL="0" indent="0">
              <a:buNone/>
            </a:pPr>
            <a:r>
              <a:rPr lang="en-US" sz="1400" dirty="0">
                <a:solidFill>
                  <a:schemeClr val="accent6"/>
                </a:solidFill>
              </a:rPr>
              <a:t>2012–now</a:t>
            </a:r>
            <a:endParaRPr lang="en-US" sz="1400" dirty="0"/>
          </a:p>
        </p:txBody>
      </p:sp>
      <p:pic>
        <p:nvPicPr>
          <p:cNvPr id="16" name="Winter icon 1" descr="AI winter"/>
          <p:cNvPicPr>
            <a:picLocks noChangeAspect="1"/>
          </p:cNvPicPr>
          <p:nvPr/>
        </p:nvPicPr>
        <p:blipFill>
          <a:blip r:embed="rId3"/>
          <a:stretch>
            <a:fillRect/>
          </a:stretch>
        </p:blipFill>
        <p:spPr>
          <a:xfrm>
            <a:off x="2514600" y="4069080"/>
            <a:ext cx="411480" cy="411480"/>
          </a:xfrm>
          <a:prstGeom prst="rect">
            <a:avLst/>
          </a:prstGeom>
        </p:spPr>
      </p:pic>
      <p:pic>
        <p:nvPicPr>
          <p:cNvPr id="17" name="Winter icon 2" descr="AI winter"/>
          <p:cNvPicPr>
            <a:picLocks noChangeAspect="1"/>
          </p:cNvPicPr>
          <p:nvPr/>
        </p:nvPicPr>
        <p:blipFill>
          <a:blip r:embed="rId3"/>
          <a:stretch>
            <a:fillRect/>
          </a:stretch>
        </p:blipFill>
        <p:spPr>
          <a:xfrm>
            <a:off x="6080760" y="4069080"/>
            <a:ext cx="411480" cy="411480"/>
          </a:xfrm>
          <a:prstGeom prst="rect">
            <a:avLst/>
          </a:prstGeom>
        </p:spPr>
      </p:pic>
      <p:sp>
        <p:nvSpPr>
          <p:cNvPr id="18" name="Author"/>
          <p:cNvSpPr txBox="1"/>
          <p:nvPr/>
        </p:nvSpPr>
        <p:spPr>
          <a:xfrm>
            <a:off x="731520" y="6035040"/>
            <a:ext cx="5486400" cy="365760"/>
          </a:xfrm>
          <a:prstGeom prst="rect">
            <a:avLst/>
          </a:prstGeom>
          <a:noFill/>
          <a:ln/>
        </p:spPr>
        <p:txBody>
          <a:bodyPr wrap="square" lIns="0" tIns="0" rIns="0" bIns="0" rtlCol="0" anchor="ctr"/>
          <a:lstStyle/>
          <a:p>
            <a:pPr marL="0" indent="0">
              <a:buNone/>
            </a:pPr>
            <a:r>
              <a:rPr lang="en-US" sz="1400" dirty="0">
                <a:solidFill>
                  <a:schemeClr val="accent6"/>
                </a:solidFill>
              </a:rPr>
              <a:t>Created by [YOUR NAME]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rPr>
              <a:t>Big ideas, then two AI winters (1950–1993)</a:t>
            </a:r>
            <a:endParaRPr lang="en-US" sz="3400" dirty="0"/>
          </a:p>
        </p:txBody>
      </p:sp>
      <p:sp>
        <p:nvSpPr>
          <p:cNvPr id="3" name="Timeline line"/>
          <p:cNvSpPr/>
          <p:nvPr/>
        </p:nvSpPr>
        <p:spPr>
          <a:xfrm>
            <a:off x="548640" y="1783080"/>
            <a:ext cx="11091672" cy="0"/>
          </a:xfrm>
          <a:prstGeom prst="line">
            <a:avLst/>
          </a:prstGeom>
          <a:noFill/>
          <a:ln w="38100">
            <a:solidFill>
              <a:schemeClr val="tx1"/>
            </a:solidFill>
            <a:prstDash val="solid"/>
          </a:ln>
        </p:spPr>
      </p:sp>
      <p:sp>
        <p:nvSpPr>
          <p:cNvPr id="4" name="Card 1950"/>
          <p:cNvSpPr/>
          <p:nvPr/>
        </p:nvSpPr>
        <p:spPr>
          <a:xfrm>
            <a:off x="548640" y="2377440"/>
            <a:ext cx="1998878" cy="3749040"/>
          </a:xfrm>
          <a:prstGeom prst="roundRect">
            <a:avLst>
              <a:gd name="adj" fmla="val 5489"/>
            </a:avLst>
          </a:prstGeom>
          <a:solidFill>
            <a:schemeClr val="bg1"/>
          </a:solidFill>
          <a:ln w="12700">
            <a:solidFill>
              <a:srgbClr val="D5DCE8"/>
            </a:solidFill>
            <a:prstDash val="solid"/>
          </a:ln>
        </p:spPr>
      </p:sp>
      <p:sp>
        <p:nvSpPr>
          <p:cNvPr id="5" name="Turing asks “Can machines think?” circle"/>
          <p:cNvSpPr/>
          <p:nvPr/>
        </p:nvSpPr>
        <p:spPr>
          <a:xfrm>
            <a:off x="1182319" y="1417320"/>
            <a:ext cx="731520" cy="731520"/>
          </a:xfrm>
          <a:prstGeom prst="ellipse">
            <a:avLst/>
          </a:prstGeom>
          <a:solidFill>
            <a:schemeClr val="accent1"/>
          </a:solidFill>
          <a:ln w="38100">
            <a:solidFill>
              <a:schemeClr val="bg1"/>
            </a:solidFill>
            <a:prstDash val="solid"/>
          </a:ln>
        </p:spPr>
      </p:sp>
      <p:pic>
        <p:nvPicPr>
          <p:cNvPr id="6" name="Turing asks “Can machines think?” icon" descr="Turing asks “Can machines think?”"/>
          <p:cNvPicPr>
            <a:picLocks noChangeAspect="1"/>
          </p:cNvPicPr>
          <p:nvPr/>
        </p:nvPicPr>
        <p:blipFill>
          <a:blip r:embed="rId3"/>
          <a:stretch>
            <a:fillRect/>
          </a:stretch>
        </p:blipFill>
        <p:spPr>
          <a:xfrm>
            <a:off x="1346911" y="1581912"/>
            <a:ext cx="402336" cy="402336"/>
          </a:xfrm>
          <a:prstGeom prst="rect">
            <a:avLst/>
          </a:prstGeom>
        </p:spPr>
      </p:pic>
      <p:sp>
        <p:nvSpPr>
          <p:cNvPr id="7" name="Text 1950"/>
          <p:cNvSpPr txBox="1"/>
          <p:nvPr/>
        </p:nvSpPr>
        <p:spPr>
          <a:xfrm>
            <a:off x="731520" y="2514600"/>
            <a:ext cx="1633118" cy="2743200"/>
          </a:xfrm>
          <a:prstGeom prst="rect">
            <a:avLst/>
          </a:prstGeom>
          <a:noFill/>
          <a:ln/>
        </p:spPr>
        <p:txBody>
          <a:bodyPr wrap="square" lIns="0" tIns="0" rIns="0" bIns="0" rtlCol="0" anchor="t"/>
          <a:lstStyle/>
          <a:p>
            <a:pPr marL="0" indent="0">
              <a:buNone/>
            </a:pPr>
            <a:r>
              <a:rPr lang="en-US" sz="2200" b="1" dirty="0">
                <a:solidFill>
                  <a:schemeClr val="accent3"/>
                </a:solidFill>
                <a:latin typeface="Arial" pitchFamily="34" charset="0"/>
                <a:ea typeface="Arial" pitchFamily="34" charset="-122"/>
                <a:cs typeface="Arial" pitchFamily="34" charset="-120"/>
              </a:rPr>
              <a:t>1950</a:t>
            </a:r>
            <a:endParaRPr lang="en-US" sz="2200" dirty="0"/>
          </a:p>
          <a:p>
            <a:pPr marL="0" indent="0">
              <a:spcBef>
                <a:spcPts val="400"/>
              </a:spcBef>
              <a:buNone/>
            </a:pPr>
            <a:r>
              <a:rPr lang="en-US" sz="1700" b="1" dirty="0">
                <a:solidFill>
                  <a:schemeClr val="tx1"/>
                </a:solidFill>
                <a:latin typeface="Arial" pitchFamily="34" charset="0"/>
                <a:ea typeface="Arial" pitchFamily="34" charset="-122"/>
                <a:cs typeface="Arial" pitchFamily="34" charset="-120"/>
              </a:rPr>
              <a:t>Turing asks “Can machines think?”</a:t>
            </a:r>
            <a:endParaRPr lang="en-US" sz="2200" dirty="0"/>
          </a:p>
          <a:p>
            <a:pPr marL="0" indent="0">
              <a:spcBef>
                <a:spcPts val="800"/>
              </a:spcBef>
              <a:buNone/>
            </a:pPr>
            <a:r>
              <a:rPr lang="en-US" sz="1500" dirty="0">
                <a:solidFill>
                  <a:schemeClr val="tx2"/>
                </a:solidFill>
              </a:rPr>
              <a:t>Proposes the Imitation Game (Turing Test) to judge machine intelligence.</a:t>
            </a:r>
            <a:endParaRPr lang="en-US" sz="2200" dirty="0"/>
          </a:p>
        </p:txBody>
      </p:sp>
      <p:sp>
        <p:nvSpPr>
          <p:cNvPr id="8" name="Players 1950"/>
          <p:cNvSpPr txBox="1"/>
          <p:nvPr/>
        </p:nvSpPr>
        <p:spPr>
          <a:xfrm>
            <a:off x="731520" y="5349240"/>
            <a:ext cx="1633118" cy="640080"/>
          </a:xfrm>
          <a:prstGeom prst="rect">
            <a:avLst/>
          </a:prstGeom>
          <a:noFill/>
          <a:ln/>
        </p:spPr>
        <p:txBody>
          <a:bodyPr wrap="square" lIns="0" tIns="0" rIns="0" bIns="0" rtlCol="0" anchor="b"/>
          <a:lstStyle/>
          <a:p>
            <a:pPr marL="0" indent="0">
              <a:buNone/>
            </a:pPr>
            <a:r>
              <a:rPr lang="en-US" sz="1300" b="1" dirty="0">
                <a:solidFill>
                  <a:schemeClr val="tx2"/>
                </a:solidFill>
              </a:rPr>
              <a:t>Alan Turing</a:t>
            </a:r>
            <a:endParaRPr lang="en-US" sz="1300" dirty="0"/>
          </a:p>
        </p:txBody>
      </p:sp>
      <p:sp>
        <p:nvSpPr>
          <p:cNvPr id="9" name="Card 1956"/>
          <p:cNvSpPr/>
          <p:nvPr/>
        </p:nvSpPr>
        <p:spPr>
          <a:xfrm>
            <a:off x="2821838" y="2377440"/>
            <a:ext cx="1998878" cy="3749040"/>
          </a:xfrm>
          <a:prstGeom prst="roundRect">
            <a:avLst>
              <a:gd name="adj" fmla="val 5489"/>
            </a:avLst>
          </a:prstGeom>
          <a:solidFill>
            <a:schemeClr val="bg1"/>
          </a:solidFill>
          <a:ln w="12700">
            <a:solidFill>
              <a:srgbClr val="D5DCE8"/>
            </a:solidFill>
            <a:prstDash val="solid"/>
          </a:ln>
        </p:spPr>
      </p:sp>
      <p:sp>
        <p:nvSpPr>
          <p:cNvPr id="10" name="Dartmouth Workshop circle"/>
          <p:cNvSpPr/>
          <p:nvPr/>
        </p:nvSpPr>
        <p:spPr>
          <a:xfrm>
            <a:off x="3455518" y="1417320"/>
            <a:ext cx="731520" cy="731520"/>
          </a:xfrm>
          <a:prstGeom prst="ellipse">
            <a:avLst/>
          </a:prstGeom>
          <a:solidFill>
            <a:schemeClr val="accent1"/>
          </a:solidFill>
          <a:ln w="38100">
            <a:solidFill>
              <a:schemeClr val="bg1"/>
            </a:solidFill>
            <a:prstDash val="solid"/>
          </a:ln>
        </p:spPr>
      </p:sp>
      <p:pic>
        <p:nvPicPr>
          <p:cNvPr id="11" name="Dartmouth Workshop icon" descr="Dartmouth Workshop"/>
          <p:cNvPicPr>
            <a:picLocks noChangeAspect="1"/>
          </p:cNvPicPr>
          <p:nvPr/>
        </p:nvPicPr>
        <p:blipFill>
          <a:blip r:embed="rId4"/>
          <a:stretch>
            <a:fillRect/>
          </a:stretch>
        </p:blipFill>
        <p:spPr>
          <a:xfrm>
            <a:off x="3620110" y="1581912"/>
            <a:ext cx="402336" cy="402336"/>
          </a:xfrm>
          <a:prstGeom prst="rect">
            <a:avLst/>
          </a:prstGeom>
        </p:spPr>
      </p:pic>
      <p:sp>
        <p:nvSpPr>
          <p:cNvPr id="12" name="Text 1956"/>
          <p:cNvSpPr txBox="1"/>
          <p:nvPr/>
        </p:nvSpPr>
        <p:spPr>
          <a:xfrm>
            <a:off x="3004718" y="2514600"/>
            <a:ext cx="1633118" cy="2743200"/>
          </a:xfrm>
          <a:prstGeom prst="rect">
            <a:avLst/>
          </a:prstGeom>
          <a:noFill/>
          <a:ln/>
        </p:spPr>
        <p:txBody>
          <a:bodyPr wrap="square" lIns="0" tIns="0" rIns="0" bIns="0" rtlCol="0" anchor="t"/>
          <a:lstStyle/>
          <a:p>
            <a:pPr marL="0" indent="0">
              <a:buNone/>
            </a:pPr>
            <a:r>
              <a:rPr lang="en-US" sz="2200" b="1" dirty="0">
                <a:solidFill>
                  <a:schemeClr val="accent3"/>
                </a:solidFill>
                <a:latin typeface="Arial" pitchFamily="34" charset="0"/>
                <a:ea typeface="Arial" pitchFamily="34" charset="-122"/>
                <a:cs typeface="Arial" pitchFamily="34" charset="-120"/>
              </a:rPr>
              <a:t>1956</a:t>
            </a:r>
            <a:endParaRPr lang="en-US" sz="2200" dirty="0"/>
          </a:p>
          <a:p>
            <a:pPr marL="0" indent="0">
              <a:spcBef>
                <a:spcPts val="400"/>
              </a:spcBef>
              <a:buNone/>
            </a:pPr>
            <a:r>
              <a:rPr lang="en-US" sz="1700" b="1" dirty="0">
                <a:solidFill>
                  <a:schemeClr val="tx1"/>
                </a:solidFill>
                <a:latin typeface="Arial" pitchFamily="34" charset="0"/>
                <a:ea typeface="Arial" pitchFamily="34" charset="-122"/>
                <a:cs typeface="Arial" pitchFamily="34" charset="-120"/>
              </a:rPr>
              <a:t>Dartmouth Workshop</a:t>
            </a:r>
            <a:endParaRPr lang="en-US" sz="2200" dirty="0"/>
          </a:p>
          <a:p>
            <a:pPr marL="0" indent="0">
              <a:spcBef>
                <a:spcPts val="800"/>
              </a:spcBef>
              <a:buNone/>
            </a:pPr>
            <a:r>
              <a:rPr lang="en-US" sz="1500" dirty="0">
                <a:solidFill>
                  <a:schemeClr val="tx2"/>
                </a:solidFill>
              </a:rPr>
              <a:t>The term “artificial intelligence” is coined and AI becomes a field of study.</a:t>
            </a:r>
            <a:endParaRPr lang="en-US" sz="2200" dirty="0"/>
          </a:p>
        </p:txBody>
      </p:sp>
      <p:sp>
        <p:nvSpPr>
          <p:cNvPr id="13" name="Players 1956"/>
          <p:cNvSpPr txBox="1"/>
          <p:nvPr/>
        </p:nvSpPr>
        <p:spPr>
          <a:xfrm>
            <a:off x="3004718" y="5349240"/>
            <a:ext cx="1633118" cy="640080"/>
          </a:xfrm>
          <a:prstGeom prst="rect">
            <a:avLst/>
          </a:prstGeom>
          <a:noFill/>
          <a:ln/>
        </p:spPr>
        <p:txBody>
          <a:bodyPr wrap="square" lIns="0" tIns="0" rIns="0" bIns="0" rtlCol="0" anchor="b"/>
          <a:lstStyle/>
          <a:p>
            <a:pPr marL="0" indent="0">
              <a:buNone/>
            </a:pPr>
            <a:r>
              <a:rPr lang="en-US" sz="1300" b="1" dirty="0">
                <a:solidFill>
                  <a:schemeClr val="tx2"/>
                </a:solidFill>
              </a:rPr>
              <a:t>McCarthy, Minsky, Shannon</a:t>
            </a:r>
            <a:endParaRPr lang="en-US" sz="1300" dirty="0"/>
          </a:p>
        </p:txBody>
      </p:sp>
      <p:sp>
        <p:nvSpPr>
          <p:cNvPr id="14" name="Card 1974–1980"/>
          <p:cNvSpPr/>
          <p:nvPr/>
        </p:nvSpPr>
        <p:spPr>
          <a:xfrm>
            <a:off x="5095037" y="2377440"/>
            <a:ext cx="1998878" cy="3749040"/>
          </a:xfrm>
          <a:prstGeom prst="roundRect">
            <a:avLst>
              <a:gd name="adj" fmla="val 5489"/>
            </a:avLst>
          </a:prstGeom>
          <a:solidFill>
            <a:schemeClr val="accent6"/>
          </a:solidFill>
          <a:ln w="12700">
            <a:solidFill>
              <a:srgbClr val="A9C8EA"/>
            </a:solidFill>
            <a:prstDash val="solid"/>
          </a:ln>
        </p:spPr>
      </p:sp>
      <p:sp>
        <p:nvSpPr>
          <p:cNvPr id="15" name="First AI Winter circle"/>
          <p:cNvSpPr/>
          <p:nvPr/>
        </p:nvSpPr>
        <p:spPr>
          <a:xfrm>
            <a:off x="5728716" y="1417320"/>
            <a:ext cx="731520" cy="731520"/>
          </a:xfrm>
          <a:prstGeom prst="ellipse">
            <a:avLst/>
          </a:prstGeom>
          <a:solidFill>
            <a:schemeClr val="accent2"/>
          </a:solidFill>
          <a:ln w="38100">
            <a:solidFill>
              <a:schemeClr val="bg1"/>
            </a:solidFill>
            <a:prstDash val="solid"/>
          </a:ln>
        </p:spPr>
      </p:sp>
      <p:pic>
        <p:nvPicPr>
          <p:cNvPr id="16" name="First AI Winter icon" descr="First AI Winter"/>
          <p:cNvPicPr>
            <a:picLocks noChangeAspect="1"/>
          </p:cNvPicPr>
          <p:nvPr/>
        </p:nvPicPr>
        <p:blipFill>
          <a:blip r:embed="rId5"/>
          <a:stretch>
            <a:fillRect/>
          </a:stretch>
        </p:blipFill>
        <p:spPr>
          <a:xfrm>
            <a:off x="5893308" y="1581912"/>
            <a:ext cx="402336" cy="402336"/>
          </a:xfrm>
          <a:prstGeom prst="rect">
            <a:avLst/>
          </a:prstGeom>
        </p:spPr>
      </p:pic>
      <p:sp>
        <p:nvSpPr>
          <p:cNvPr id="17" name="Text 1974–1980"/>
          <p:cNvSpPr txBox="1"/>
          <p:nvPr/>
        </p:nvSpPr>
        <p:spPr>
          <a:xfrm>
            <a:off x="5277917" y="2514600"/>
            <a:ext cx="1633118" cy="2743200"/>
          </a:xfrm>
          <a:prstGeom prst="rect">
            <a:avLst/>
          </a:prstGeom>
          <a:noFill/>
          <a:ln/>
        </p:spPr>
        <p:txBody>
          <a:bodyPr wrap="square" lIns="0" tIns="0" rIns="0" bIns="0" rtlCol="0" anchor="t"/>
          <a:lstStyle/>
          <a:p>
            <a:pPr marL="0" indent="0">
              <a:buNone/>
            </a:pPr>
            <a:r>
              <a:rPr lang="en-US" sz="2200" b="1" dirty="0">
                <a:solidFill>
                  <a:schemeClr val="accent4"/>
                </a:solidFill>
                <a:latin typeface="Arial" pitchFamily="34" charset="0"/>
                <a:ea typeface="Arial" pitchFamily="34" charset="-122"/>
                <a:cs typeface="Arial" pitchFamily="34" charset="-120"/>
              </a:rPr>
              <a:t>1974–1980</a:t>
            </a:r>
            <a:endParaRPr lang="en-US" sz="2200" dirty="0"/>
          </a:p>
          <a:p>
            <a:pPr marL="0" indent="0">
              <a:spcBef>
                <a:spcPts val="400"/>
              </a:spcBef>
              <a:buNone/>
            </a:pPr>
            <a:r>
              <a:rPr lang="en-US" sz="1700" b="1" dirty="0">
                <a:solidFill>
                  <a:schemeClr val="tx1"/>
                </a:solidFill>
                <a:latin typeface="Arial" pitchFamily="34" charset="0"/>
                <a:ea typeface="Arial" pitchFamily="34" charset="-122"/>
                <a:cs typeface="Arial" pitchFamily="34" charset="-120"/>
              </a:rPr>
              <a:t>First AI Winter</a:t>
            </a:r>
            <a:endParaRPr lang="en-US" sz="2200" dirty="0"/>
          </a:p>
          <a:p>
            <a:pPr marL="0" indent="0">
              <a:spcBef>
                <a:spcPts val="800"/>
              </a:spcBef>
              <a:buNone/>
            </a:pPr>
            <a:r>
              <a:rPr lang="en-US" sz="1500" dirty="0">
                <a:solidFill>
                  <a:schemeClr val="tx2"/>
                </a:solidFill>
              </a:rPr>
              <a:t>Big promises meet weak computers. The Lighthill Report (1973) and DARPA cuts end funding.</a:t>
            </a:r>
            <a:endParaRPr lang="en-US" sz="2200" dirty="0"/>
          </a:p>
        </p:txBody>
      </p:sp>
      <p:sp>
        <p:nvSpPr>
          <p:cNvPr id="18" name="Players 1974–1980"/>
          <p:cNvSpPr txBox="1"/>
          <p:nvPr/>
        </p:nvSpPr>
        <p:spPr>
          <a:xfrm>
            <a:off x="5277917" y="5349240"/>
            <a:ext cx="1633118" cy="640080"/>
          </a:xfrm>
          <a:prstGeom prst="rect">
            <a:avLst/>
          </a:prstGeom>
          <a:noFill/>
          <a:ln/>
        </p:spPr>
        <p:txBody>
          <a:bodyPr wrap="square" lIns="0" tIns="0" rIns="0" bIns="0" rtlCol="0" anchor="b"/>
          <a:lstStyle/>
          <a:p>
            <a:pPr marL="0" indent="0">
              <a:buNone/>
            </a:pPr>
            <a:r>
              <a:rPr lang="en-US" sz="1300" b="1" dirty="0">
                <a:solidFill>
                  <a:schemeClr val="tx2"/>
                </a:solidFill>
              </a:rPr>
              <a:t>Lighthill, DARPA</a:t>
            </a:r>
            <a:endParaRPr lang="en-US" sz="1300" dirty="0"/>
          </a:p>
        </p:txBody>
      </p:sp>
      <p:sp>
        <p:nvSpPr>
          <p:cNvPr id="19" name="Card 1980s"/>
          <p:cNvSpPr/>
          <p:nvPr/>
        </p:nvSpPr>
        <p:spPr>
          <a:xfrm>
            <a:off x="7368235" y="2377440"/>
            <a:ext cx="1998878" cy="3749040"/>
          </a:xfrm>
          <a:prstGeom prst="roundRect">
            <a:avLst>
              <a:gd name="adj" fmla="val 5489"/>
            </a:avLst>
          </a:prstGeom>
          <a:solidFill>
            <a:schemeClr val="bg1"/>
          </a:solidFill>
          <a:ln w="12700">
            <a:solidFill>
              <a:srgbClr val="D5DCE8"/>
            </a:solidFill>
            <a:prstDash val="solid"/>
          </a:ln>
        </p:spPr>
      </p:sp>
      <p:sp>
        <p:nvSpPr>
          <p:cNvPr id="20" name="Expert Systems Boom circle"/>
          <p:cNvSpPr/>
          <p:nvPr/>
        </p:nvSpPr>
        <p:spPr>
          <a:xfrm>
            <a:off x="8001914" y="1417320"/>
            <a:ext cx="731520" cy="731520"/>
          </a:xfrm>
          <a:prstGeom prst="ellipse">
            <a:avLst/>
          </a:prstGeom>
          <a:solidFill>
            <a:schemeClr val="accent1"/>
          </a:solidFill>
          <a:ln w="38100">
            <a:solidFill>
              <a:schemeClr val="bg1"/>
            </a:solidFill>
            <a:prstDash val="solid"/>
          </a:ln>
        </p:spPr>
      </p:sp>
      <p:pic>
        <p:nvPicPr>
          <p:cNvPr id="21" name="Expert Systems Boom icon" descr="Expert Systems Boom"/>
          <p:cNvPicPr>
            <a:picLocks noChangeAspect="1"/>
          </p:cNvPicPr>
          <p:nvPr/>
        </p:nvPicPr>
        <p:blipFill>
          <a:blip r:embed="rId6"/>
          <a:stretch>
            <a:fillRect/>
          </a:stretch>
        </p:blipFill>
        <p:spPr>
          <a:xfrm>
            <a:off x="8166506" y="1581912"/>
            <a:ext cx="402336" cy="402336"/>
          </a:xfrm>
          <a:prstGeom prst="rect">
            <a:avLst/>
          </a:prstGeom>
        </p:spPr>
      </p:pic>
      <p:sp>
        <p:nvSpPr>
          <p:cNvPr id="22" name="Text 1980s"/>
          <p:cNvSpPr txBox="1"/>
          <p:nvPr/>
        </p:nvSpPr>
        <p:spPr>
          <a:xfrm>
            <a:off x="7551115" y="2514600"/>
            <a:ext cx="1633118" cy="2743200"/>
          </a:xfrm>
          <a:prstGeom prst="rect">
            <a:avLst/>
          </a:prstGeom>
          <a:noFill/>
          <a:ln/>
        </p:spPr>
        <p:txBody>
          <a:bodyPr wrap="square" lIns="0" tIns="0" rIns="0" bIns="0" rtlCol="0" anchor="t"/>
          <a:lstStyle/>
          <a:p>
            <a:pPr marL="0" indent="0">
              <a:buNone/>
            </a:pPr>
            <a:r>
              <a:rPr lang="en-US" sz="2200" b="1" dirty="0">
                <a:solidFill>
                  <a:schemeClr val="accent3"/>
                </a:solidFill>
                <a:latin typeface="Arial" pitchFamily="34" charset="0"/>
                <a:ea typeface="Arial" pitchFamily="34" charset="-122"/>
                <a:cs typeface="Arial" pitchFamily="34" charset="-120"/>
              </a:rPr>
              <a:t>1980s</a:t>
            </a:r>
            <a:endParaRPr lang="en-US" sz="2200" dirty="0"/>
          </a:p>
          <a:p>
            <a:pPr marL="0" indent="0">
              <a:spcBef>
                <a:spcPts val="400"/>
              </a:spcBef>
              <a:buNone/>
            </a:pPr>
            <a:r>
              <a:rPr lang="en-US" sz="1700" b="1" dirty="0">
                <a:solidFill>
                  <a:schemeClr val="tx1"/>
                </a:solidFill>
                <a:latin typeface="Arial" pitchFamily="34" charset="0"/>
                <a:ea typeface="Arial" pitchFamily="34" charset="-122"/>
                <a:cs typeface="Arial" pitchFamily="34" charset="-120"/>
              </a:rPr>
              <a:t>Expert Systems Boom</a:t>
            </a:r>
            <a:endParaRPr lang="en-US" sz="2200" dirty="0"/>
          </a:p>
          <a:p>
            <a:pPr marL="0" indent="0">
              <a:spcBef>
                <a:spcPts val="800"/>
              </a:spcBef>
              <a:buNone/>
            </a:pPr>
            <a:r>
              <a:rPr lang="en-US" sz="1500" dirty="0">
                <a:solidFill>
                  <a:schemeClr val="tx2"/>
                </a:solidFill>
              </a:rPr>
              <a:t>Rule-based systems like XCON and MYCIN bring AI into business.</a:t>
            </a:r>
            <a:endParaRPr lang="en-US" sz="2200" dirty="0"/>
          </a:p>
        </p:txBody>
      </p:sp>
      <p:sp>
        <p:nvSpPr>
          <p:cNvPr id="23" name="Players 1980s"/>
          <p:cNvSpPr txBox="1"/>
          <p:nvPr/>
        </p:nvSpPr>
        <p:spPr>
          <a:xfrm>
            <a:off x="7551115" y="5349240"/>
            <a:ext cx="1633118" cy="640080"/>
          </a:xfrm>
          <a:prstGeom prst="rect">
            <a:avLst/>
          </a:prstGeom>
          <a:noFill/>
          <a:ln/>
        </p:spPr>
        <p:txBody>
          <a:bodyPr wrap="square" lIns="0" tIns="0" rIns="0" bIns="0" rtlCol="0" anchor="b"/>
          <a:lstStyle/>
          <a:p>
            <a:pPr marL="0" indent="0">
              <a:buNone/>
            </a:pPr>
            <a:r>
              <a:rPr lang="en-US" sz="1300" b="1" dirty="0">
                <a:solidFill>
                  <a:schemeClr val="tx2"/>
                </a:solidFill>
              </a:rPr>
              <a:t>DEC, Stanford, CMU</a:t>
            </a:r>
            <a:endParaRPr lang="en-US" sz="1300" dirty="0"/>
          </a:p>
        </p:txBody>
      </p:sp>
      <p:sp>
        <p:nvSpPr>
          <p:cNvPr id="24" name="Card 1987–1993"/>
          <p:cNvSpPr/>
          <p:nvPr/>
        </p:nvSpPr>
        <p:spPr>
          <a:xfrm>
            <a:off x="9641434" y="2377440"/>
            <a:ext cx="1998878" cy="3749040"/>
          </a:xfrm>
          <a:prstGeom prst="roundRect">
            <a:avLst>
              <a:gd name="adj" fmla="val 5489"/>
            </a:avLst>
          </a:prstGeom>
          <a:solidFill>
            <a:schemeClr val="accent6"/>
          </a:solidFill>
          <a:ln w="12700">
            <a:solidFill>
              <a:srgbClr val="A9C8EA"/>
            </a:solidFill>
            <a:prstDash val="solid"/>
          </a:ln>
        </p:spPr>
      </p:sp>
      <p:sp>
        <p:nvSpPr>
          <p:cNvPr id="25" name="Second AI Winter circle"/>
          <p:cNvSpPr/>
          <p:nvPr/>
        </p:nvSpPr>
        <p:spPr>
          <a:xfrm>
            <a:off x="10275113" y="1417320"/>
            <a:ext cx="731520" cy="731520"/>
          </a:xfrm>
          <a:prstGeom prst="ellipse">
            <a:avLst/>
          </a:prstGeom>
          <a:solidFill>
            <a:schemeClr val="accent2"/>
          </a:solidFill>
          <a:ln w="38100">
            <a:solidFill>
              <a:schemeClr val="bg1"/>
            </a:solidFill>
            <a:prstDash val="solid"/>
          </a:ln>
        </p:spPr>
      </p:sp>
      <p:pic>
        <p:nvPicPr>
          <p:cNvPr id="26" name="Second AI Winter icon" descr="Second AI Winter"/>
          <p:cNvPicPr>
            <a:picLocks noChangeAspect="1"/>
          </p:cNvPicPr>
          <p:nvPr/>
        </p:nvPicPr>
        <p:blipFill>
          <a:blip r:embed="rId5"/>
          <a:stretch>
            <a:fillRect/>
          </a:stretch>
        </p:blipFill>
        <p:spPr>
          <a:xfrm>
            <a:off x="10439705" y="1581912"/>
            <a:ext cx="402336" cy="402336"/>
          </a:xfrm>
          <a:prstGeom prst="rect">
            <a:avLst/>
          </a:prstGeom>
        </p:spPr>
      </p:pic>
      <p:sp>
        <p:nvSpPr>
          <p:cNvPr id="27" name="Text 1987–1993"/>
          <p:cNvSpPr txBox="1"/>
          <p:nvPr/>
        </p:nvSpPr>
        <p:spPr>
          <a:xfrm>
            <a:off x="9824314" y="2514600"/>
            <a:ext cx="1633118" cy="2743200"/>
          </a:xfrm>
          <a:prstGeom prst="rect">
            <a:avLst/>
          </a:prstGeom>
          <a:noFill/>
          <a:ln/>
        </p:spPr>
        <p:txBody>
          <a:bodyPr wrap="square" lIns="0" tIns="0" rIns="0" bIns="0" rtlCol="0" anchor="t"/>
          <a:lstStyle/>
          <a:p>
            <a:pPr marL="0" indent="0">
              <a:buNone/>
            </a:pPr>
            <a:r>
              <a:rPr lang="en-US" sz="2200" b="1" dirty="0">
                <a:solidFill>
                  <a:schemeClr val="accent4"/>
                </a:solidFill>
                <a:latin typeface="Arial" pitchFamily="34" charset="0"/>
                <a:ea typeface="Arial" pitchFamily="34" charset="-122"/>
                <a:cs typeface="Arial" pitchFamily="34" charset="-120"/>
              </a:rPr>
              <a:t>1987–1993</a:t>
            </a:r>
            <a:endParaRPr lang="en-US" sz="2200" dirty="0"/>
          </a:p>
          <a:p>
            <a:pPr marL="0" indent="0">
              <a:spcBef>
                <a:spcPts val="400"/>
              </a:spcBef>
              <a:buNone/>
            </a:pPr>
            <a:r>
              <a:rPr lang="en-US" sz="1700" b="1" dirty="0">
                <a:solidFill>
                  <a:schemeClr val="tx1"/>
                </a:solidFill>
                <a:latin typeface="Arial" pitchFamily="34" charset="0"/>
                <a:ea typeface="Arial" pitchFamily="34" charset="-122"/>
                <a:cs typeface="Arial" pitchFamily="34" charset="-120"/>
              </a:rPr>
              <a:t>Second AI Winter</a:t>
            </a:r>
            <a:endParaRPr lang="en-US" sz="2200" dirty="0"/>
          </a:p>
          <a:p>
            <a:pPr marL="0" indent="0">
              <a:spcBef>
                <a:spcPts val="800"/>
              </a:spcBef>
              <a:buNone/>
            </a:pPr>
            <a:r>
              <a:rPr lang="en-US" sz="1500" dirty="0">
                <a:solidFill>
                  <a:schemeClr val="tx2"/>
                </a:solidFill>
              </a:rPr>
              <a:t>Lisp machine market collapses; expert systems prove costly and brittle.</a:t>
            </a:r>
            <a:endParaRPr lang="en-US" sz="2200" dirty="0"/>
          </a:p>
        </p:txBody>
      </p:sp>
      <p:sp>
        <p:nvSpPr>
          <p:cNvPr id="28" name="Players 1987–1993"/>
          <p:cNvSpPr txBox="1"/>
          <p:nvPr/>
        </p:nvSpPr>
        <p:spPr>
          <a:xfrm>
            <a:off x="9824314" y="5349240"/>
            <a:ext cx="1633118" cy="640080"/>
          </a:xfrm>
          <a:prstGeom prst="rect">
            <a:avLst/>
          </a:prstGeom>
          <a:noFill/>
          <a:ln/>
        </p:spPr>
        <p:txBody>
          <a:bodyPr wrap="square" lIns="0" tIns="0" rIns="0" bIns="0" rtlCol="0" anchor="b"/>
          <a:lstStyle/>
          <a:p>
            <a:pPr marL="0" indent="0">
              <a:buNone/>
            </a:pPr>
            <a:r>
              <a:rPr lang="en-US" sz="1300" b="1" dirty="0">
                <a:solidFill>
                  <a:schemeClr val="tx2"/>
                </a:solidFill>
              </a:rPr>
              <a:t>Symbolics, Japan’s Fifth Generation</a:t>
            </a:r>
            <a:endParaRPr lang="en-US" sz="1300" dirty="0"/>
          </a:p>
        </p:txBody>
      </p:sp>
      <p:sp>
        <p:nvSpPr>
          <p:cNvPr id="29"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rPr>
              <a:t>The comeback: deep learning to generative AI</a:t>
            </a:r>
            <a:endParaRPr lang="en-US" sz="3400" dirty="0"/>
          </a:p>
        </p:txBody>
      </p:sp>
      <p:sp>
        <p:nvSpPr>
          <p:cNvPr id="3" name="Timeline line"/>
          <p:cNvSpPr/>
          <p:nvPr/>
        </p:nvSpPr>
        <p:spPr>
          <a:xfrm>
            <a:off x="548640" y="3794760"/>
            <a:ext cx="11091672" cy="0"/>
          </a:xfrm>
          <a:prstGeom prst="line">
            <a:avLst/>
          </a:prstGeom>
          <a:noFill/>
          <a:ln w="38100">
            <a:solidFill>
              <a:schemeClr val="tx1"/>
            </a:solidFill>
            <a:prstDash val="solid"/>
          </a:ln>
        </p:spPr>
      </p:sp>
      <p:sp>
        <p:nvSpPr>
          <p:cNvPr id="4" name="Stem 1997"/>
          <p:cNvSpPr/>
          <p:nvPr/>
        </p:nvSpPr>
        <p:spPr>
          <a:xfrm>
            <a:off x="1783080" y="3337560"/>
            <a:ext cx="0" cy="457200"/>
          </a:xfrm>
          <a:prstGeom prst="line">
            <a:avLst/>
          </a:prstGeom>
          <a:noFill/>
          <a:ln w="25400">
            <a:solidFill>
              <a:schemeClr val="accent1"/>
            </a:solidFill>
            <a:prstDash val="solid"/>
          </a:ln>
        </p:spPr>
      </p:sp>
      <p:sp>
        <p:nvSpPr>
          <p:cNvPr id="5" name="Card 1997"/>
          <p:cNvSpPr/>
          <p:nvPr/>
        </p:nvSpPr>
        <p:spPr>
          <a:xfrm>
            <a:off x="548640" y="1463040"/>
            <a:ext cx="2560320" cy="1874520"/>
          </a:xfrm>
          <a:prstGeom prst="roundRect">
            <a:avLst>
              <a:gd name="adj" fmla="val 5854"/>
            </a:avLst>
          </a:prstGeom>
          <a:solidFill>
            <a:schemeClr val="bg1"/>
          </a:solidFill>
          <a:ln w="12700">
            <a:solidFill>
              <a:srgbClr val="D5DCE8"/>
            </a:solidFill>
            <a:prstDash val="solid"/>
          </a:ln>
        </p:spPr>
      </p:sp>
      <p:sp>
        <p:nvSpPr>
          <p:cNvPr id="6" name="Deep Blue beats Kasparov circle"/>
          <p:cNvSpPr/>
          <p:nvPr/>
        </p:nvSpPr>
        <p:spPr>
          <a:xfrm>
            <a:off x="1499616" y="3511296"/>
            <a:ext cx="566928" cy="566928"/>
          </a:xfrm>
          <a:prstGeom prst="ellipse">
            <a:avLst/>
          </a:prstGeom>
          <a:solidFill>
            <a:schemeClr val="accent1"/>
          </a:solidFill>
          <a:ln w="38100">
            <a:solidFill>
              <a:schemeClr val="bg1"/>
            </a:solidFill>
            <a:prstDash val="solid"/>
          </a:ln>
        </p:spPr>
      </p:sp>
      <p:pic>
        <p:nvPicPr>
          <p:cNvPr id="7" name="Deep Blue beats Kasparov icon" descr="Deep Blue beats Kasparov"/>
          <p:cNvPicPr>
            <a:picLocks noChangeAspect="1"/>
          </p:cNvPicPr>
          <p:nvPr/>
        </p:nvPicPr>
        <p:blipFill>
          <a:blip r:embed="rId3"/>
          <a:stretch>
            <a:fillRect/>
          </a:stretch>
        </p:blipFill>
        <p:spPr>
          <a:xfrm>
            <a:off x="1627175" y="3638855"/>
            <a:ext cx="311810" cy="311810"/>
          </a:xfrm>
          <a:prstGeom prst="rect">
            <a:avLst/>
          </a:prstGeom>
        </p:spPr>
      </p:pic>
      <p:sp>
        <p:nvSpPr>
          <p:cNvPr id="8" name="Text 1997"/>
          <p:cNvSpPr txBox="1"/>
          <p:nvPr/>
        </p:nvSpPr>
        <p:spPr>
          <a:xfrm>
            <a:off x="685800" y="1554480"/>
            <a:ext cx="2286000" cy="1691640"/>
          </a:xfrm>
          <a:prstGeom prst="rect">
            <a:avLst/>
          </a:prstGeom>
          <a:noFill/>
          <a:ln/>
        </p:spPr>
        <p:txBody>
          <a:bodyPr wrap="square" lIns="0" tIns="0" rIns="0" bIns="0" rtlCol="0" anchor="t"/>
          <a:lstStyle/>
          <a:p>
            <a:pPr marL="0" indent="0">
              <a:buNone/>
            </a:pPr>
            <a:r>
              <a:rPr lang="en-US" sz="1800" b="1" dirty="0">
                <a:solidFill>
                  <a:schemeClr val="accent3"/>
                </a:solidFill>
                <a:latin typeface="Arial" pitchFamily="34" charset="0"/>
                <a:ea typeface="Arial" pitchFamily="34" charset="-122"/>
                <a:cs typeface="Arial" pitchFamily="34" charset="-120"/>
              </a:rPr>
              <a:t>1997  </a:t>
            </a:r>
            <a:r>
              <a:rPr lang="en-US" sz="1500" b="1" dirty="0">
                <a:solidFill>
                  <a:schemeClr val="tx1"/>
                </a:solidFill>
                <a:latin typeface="Arial" pitchFamily="34" charset="0"/>
                <a:ea typeface="Arial" pitchFamily="34" charset="-122"/>
                <a:cs typeface="Arial" pitchFamily="34" charset="-120"/>
              </a:rPr>
              <a:t>Deep Blue beats Kasparov</a:t>
            </a:r>
            <a:endParaRPr lang="en-US" sz="1800" dirty="0"/>
          </a:p>
          <a:p>
            <a:pPr marL="0" indent="0">
              <a:spcBef>
                <a:spcPts val="400"/>
              </a:spcBef>
              <a:buNone/>
            </a:pPr>
            <a:r>
              <a:rPr lang="en-US" sz="1400" dirty="0">
                <a:solidFill>
                  <a:schemeClr val="tx2"/>
                </a:solidFill>
              </a:rPr>
              <a:t>IBM’s chess computer defeats the world champion.</a:t>
            </a:r>
            <a:endParaRPr lang="en-US" sz="1800" dirty="0"/>
          </a:p>
          <a:p>
            <a:pPr marL="0" indent="0">
              <a:spcBef>
                <a:spcPts val="400"/>
              </a:spcBef>
              <a:buNone/>
            </a:pPr>
            <a:r>
              <a:rPr lang="en-US" sz="1200" b="1" dirty="0">
                <a:solidFill>
                  <a:schemeClr val="tx2"/>
                </a:solidFill>
              </a:rPr>
              <a:t>IBM</a:t>
            </a:r>
            <a:endParaRPr lang="en-US" sz="1800" dirty="0"/>
          </a:p>
        </p:txBody>
      </p:sp>
      <p:sp>
        <p:nvSpPr>
          <p:cNvPr id="9" name="Stem 2012"/>
          <p:cNvSpPr/>
          <p:nvPr/>
        </p:nvSpPr>
        <p:spPr>
          <a:xfrm>
            <a:off x="3220212" y="3794760"/>
            <a:ext cx="0" cy="457200"/>
          </a:xfrm>
          <a:prstGeom prst="line">
            <a:avLst/>
          </a:prstGeom>
          <a:noFill/>
          <a:ln w="25400">
            <a:solidFill>
              <a:schemeClr val="accent1"/>
            </a:solidFill>
            <a:prstDash val="solid"/>
          </a:ln>
        </p:spPr>
      </p:sp>
      <p:sp>
        <p:nvSpPr>
          <p:cNvPr id="10" name="Card 2012"/>
          <p:cNvSpPr/>
          <p:nvPr/>
        </p:nvSpPr>
        <p:spPr>
          <a:xfrm>
            <a:off x="1940052" y="4251960"/>
            <a:ext cx="2560320" cy="1874520"/>
          </a:xfrm>
          <a:prstGeom prst="roundRect">
            <a:avLst>
              <a:gd name="adj" fmla="val 5854"/>
            </a:avLst>
          </a:prstGeom>
          <a:solidFill>
            <a:schemeClr val="bg1"/>
          </a:solidFill>
          <a:ln w="12700">
            <a:solidFill>
              <a:srgbClr val="D5DCE8"/>
            </a:solidFill>
            <a:prstDash val="solid"/>
          </a:ln>
        </p:spPr>
      </p:sp>
      <p:sp>
        <p:nvSpPr>
          <p:cNvPr id="11" name="AlexNet circle"/>
          <p:cNvSpPr/>
          <p:nvPr/>
        </p:nvSpPr>
        <p:spPr>
          <a:xfrm>
            <a:off x="2936748" y="3511296"/>
            <a:ext cx="566928" cy="566928"/>
          </a:xfrm>
          <a:prstGeom prst="ellipse">
            <a:avLst/>
          </a:prstGeom>
          <a:solidFill>
            <a:schemeClr val="accent1"/>
          </a:solidFill>
          <a:ln w="38100">
            <a:solidFill>
              <a:schemeClr val="bg1"/>
            </a:solidFill>
            <a:prstDash val="solid"/>
          </a:ln>
        </p:spPr>
      </p:sp>
      <p:pic>
        <p:nvPicPr>
          <p:cNvPr id="12" name="AlexNet icon" descr="AlexNet"/>
          <p:cNvPicPr>
            <a:picLocks noChangeAspect="1"/>
          </p:cNvPicPr>
          <p:nvPr/>
        </p:nvPicPr>
        <p:blipFill>
          <a:blip r:embed="rId4"/>
          <a:stretch>
            <a:fillRect/>
          </a:stretch>
        </p:blipFill>
        <p:spPr>
          <a:xfrm>
            <a:off x="3064307" y="3638855"/>
            <a:ext cx="311810" cy="311810"/>
          </a:xfrm>
          <a:prstGeom prst="rect">
            <a:avLst/>
          </a:prstGeom>
        </p:spPr>
      </p:pic>
      <p:sp>
        <p:nvSpPr>
          <p:cNvPr id="13" name="Text 2012"/>
          <p:cNvSpPr txBox="1"/>
          <p:nvPr/>
        </p:nvSpPr>
        <p:spPr>
          <a:xfrm>
            <a:off x="2077212" y="4343400"/>
            <a:ext cx="2286000" cy="1691640"/>
          </a:xfrm>
          <a:prstGeom prst="rect">
            <a:avLst/>
          </a:prstGeom>
          <a:noFill/>
          <a:ln/>
        </p:spPr>
        <p:txBody>
          <a:bodyPr wrap="square" lIns="0" tIns="0" rIns="0" bIns="0" rtlCol="0" anchor="t"/>
          <a:lstStyle/>
          <a:p>
            <a:pPr marL="0" indent="0">
              <a:buNone/>
            </a:pPr>
            <a:r>
              <a:rPr lang="en-US" sz="1800" b="1" dirty="0">
                <a:solidFill>
                  <a:schemeClr val="accent3"/>
                </a:solidFill>
                <a:latin typeface="Arial" pitchFamily="34" charset="0"/>
                <a:ea typeface="Arial" pitchFamily="34" charset="-122"/>
                <a:cs typeface="Arial" pitchFamily="34" charset="-120"/>
              </a:rPr>
              <a:t>2012  </a:t>
            </a:r>
            <a:r>
              <a:rPr lang="en-US" sz="1500" b="1" dirty="0">
                <a:solidFill>
                  <a:schemeClr val="tx1"/>
                </a:solidFill>
                <a:latin typeface="Arial" pitchFamily="34" charset="0"/>
                <a:ea typeface="Arial" pitchFamily="34" charset="-122"/>
                <a:cs typeface="Arial" pitchFamily="34" charset="-120"/>
              </a:rPr>
              <a:t>AlexNet</a:t>
            </a:r>
            <a:endParaRPr lang="en-US" sz="1800" dirty="0"/>
          </a:p>
          <a:p>
            <a:pPr marL="0" indent="0">
              <a:spcBef>
                <a:spcPts val="400"/>
              </a:spcBef>
              <a:buNone/>
            </a:pPr>
            <a:r>
              <a:rPr lang="en-US" sz="1400" dirty="0">
                <a:solidFill>
                  <a:schemeClr val="tx2"/>
                </a:solidFill>
              </a:rPr>
              <a:t>A GPU-trained neural network wins ImageNet and starts the deep learning era.</a:t>
            </a:r>
            <a:endParaRPr lang="en-US" sz="1800" dirty="0"/>
          </a:p>
          <a:p>
            <a:pPr marL="0" indent="0">
              <a:spcBef>
                <a:spcPts val="400"/>
              </a:spcBef>
              <a:buNone/>
            </a:pPr>
            <a:r>
              <a:rPr lang="en-US" sz="1200" b="1" dirty="0">
                <a:solidFill>
                  <a:schemeClr val="tx2"/>
                </a:solidFill>
              </a:rPr>
              <a:t>Hinton, Krizhevsky, Sutskever</a:t>
            </a:r>
            <a:endParaRPr lang="en-US" sz="1800" dirty="0"/>
          </a:p>
        </p:txBody>
      </p:sp>
      <p:sp>
        <p:nvSpPr>
          <p:cNvPr id="14" name="Stem 2016"/>
          <p:cNvSpPr/>
          <p:nvPr/>
        </p:nvSpPr>
        <p:spPr>
          <a:xfrm>
            <a:off x="4657344" y="3337560"/>
            <a:ext cx="0" cy="457200"/>
          </a:xfrm>
          <a:prstGeom prst="line">
            <a:avLst/>
          </a:prstGeom>
          <a:noFill/>
          <a:ln w="25400">
            <a:solidFill>
              <a:schemeClr val="accent1"/>
            </a:solidFill>
            <a:prstDash val="solid"/>
          </a:ln>
        </p:spPr>
      </p:sp>
      <p:sp>
        <p:nvSpPr>
          <p:cNvPr id="15" name="Card 2016"/>
          <p:cNvSpPr/>
          <p:nvPr/>
        </p:nvSpPr>
        <p:spPr>
          <a:xfrm>
            <a:off x="3377184" y="1463040"/>
            <a:ext cx="2560320" cy="1874520"/>
          </a:xfrm>
          <a:prstGeom prst="roundRect">
            <a:avLst>
              <a:gd name="adj" fmla="val 5854"/>
            </a:avLst>
          </a:prstGeom>
          <a:solidFill>
            <a:schemeClr val="bg1"/>
          </a:solidFill>
          <a:ln w="12700">
            <a:solidFill>
              <a:srgbClr val="D5DCE8"/>
            </a:solidFill>
            <a:prstDash val="solid"/>
          </a:ln>
        </p:spPr>
      </p:sp>
      <p:sp>
        <p:nvSpPr>
          <p:cNvPr id="16" name="AlphaGo circle"/>
          <p:cNvSpPr/>
          <p:nvPr/>
        </p:nvSpPr>
        <p:spPr>
          <a:xfrm>
            <a:off x="4373880" y="3511296"/>
            <a:ext cx="566928" cy="566928"/>
          </a:xfrm>
          <a:prstGeom prst="ellipse">
            <a:avLst/>
          </a:prstGeom>
          <a:solidFill>
            <a:schemeClr val="accent1"/>
          </a:solidFill>
          <a:ln w="38100">
            <a:solidFill>
              <a:schemeClr val="bg1"/>
            </a:solidFill>
            <a:prstDash val="solid"/>
          </a:ln>
        </p:spPr>
      </p:sp>
      <p:pic>
        <p:nvPicPr>
          <p:cNvPr id="17" name="AlphaGo icon" descr="AlphaGo"/>
          <p:cNvPicPr>
            <a:picLocks noChangeAspect="1"/>
          </p:cNvPicPr>
          <p:nvPr/>
        </p:nvPicPr>
        <p:blipFill>
          <a:blip r:embed="rId5"/>
          <a:stretch>
            <a:fillRect/>
          </a:stretch>
        </p:blipFill>
        <p:spPr>
          <a:xfrm>
            <a:off x="4501439" y="3638855"/>
            <a:ext cx="311810" cy="311810"/>
          </a:xfrm>
          <a:prstGeom prst="rect">
            <a:avLst/>
          </a:prstGeom>
        </p:spPr>
      </p:pic>
      <p:sp>
        <p:nvSpPr>
          <p:cNvPr id="18" name="Text 2016"/>
          <p:cNvSpPr txBox="1"/>
          <p:nvPr/>
        </p:nvSpPr>
        <p:spPr>
          <a:xfrm>
            <a:off x="3514344" y="1554480"/>
            <a:ext cx="2286000" cy="1691640"/>
          </a:xfrm>
          <a:prstGeom prst="rect">
            <a:avLst/>
          </a:prstGeom>
          <a:noFill/>
          <a:ln/>
        </p:spPr>
        <p:txBody>
          <a:bodyPr wrap="square" lIns="0" tIns="0" rIns="0" bIns="0" rtlCol="0" anchor="t"/>
          <a:lstStyle/>
          <a:p>
            <a:pPr marL="0" indent="0">
              <a:buNone/>
            </a:pPr>
            <a:r>
              <a:rPr lang="en-US" sz="1800" b="1" dirty="0">
                <a:solidFill>
                  <a:schemeClr val="accent3"/>
                </a:solidFill>
                <a:latin typeface="Arial" pitchFamily="34" charset="0"/>
                <a:ea typeface="Arial" pitchFamily="34" charset="-122"/>
                <a:cs typeface="Arial" pitchFamily="34" charset="-120"/>
              </a:rPr>
              <a:t>2016  </a:t>
            </a:r>
            <a:r>
              <a:rPr lang="en-US" sz="1500" b="1" dirty="0">
                <a:solidFill>
                  <a:schemeClr val="tx1"/>
                </a:solidFill>
                <a:latin typeface="Arial" pitchFamily="34" charset="0"/>
                <a:ea typeface="Arial" pitchFamily="34" charset="-122"/>
                <a:cs typeface="Arial" pitchFamily="34" charset="-120"/>
              </a:rPr>
              <a:t>AlphaGo</a:t>
            </a:r>
            <a:endParaRPr lang="en-US" sz="1800" dirty="0"/>
          </a:p>
          <a:p>
            <a:pPr marL="0" indent="0">
              <a:spcBef>
                <a:spcPts val="400"/>
              </a:spcBef>
              <a:buNone/>
            </a:pPr>
            <a:r>
              <a:rPr lang="en-US" sz="1400" dirty="0">
                <a:solidFill>
                  <a:schemeClr val="tx2"/>
                </a:solidFill>
              </a:rPr>
              <a:t>Defeats Go champion Lee Sedol 4–1.</a:t>
            </a:r>
            <a:endParaRPr lang="en-US" sz="1800" dirty="0"/>
          </a:p>
          <a:p>
            <a:pPr marL="0" indent="0">
              <a:spcBef>
                <a:spcPts val="400"/>
              </a:spcBef>
              <a:buNone/>
            </a:pPr>
            <a:r>
              <a:rPr lang="en-US" sz="1200" b="1" dirty="0">
                <a:solidFill>
                  <a:schemeClr val="tx2"/>
                </a:solidFill>
              </a:rPr>
              <a:t>Google DeepMind, Demis Hassabis</a:t>
            </a:r>
            <a:endParaRPr lang="en-US" sz="1800" dirty="0"/>
          </a:p>
        </p:txBody>
      </p:sp>
      <p:sp>
        <p:nvSpPr>
          <p:cNvPr id="19" name="Stem 2017"/>
          <p:cNvSpPr/>
          <p:nvPr/>
        </p:nvSpPr>
        <p:spPr>
          <a:xfrm>
            <a:off x="6094476" y="3794760"/>
            <a:ext cx="0" cy="457200"/>
          </a:xfrm>
          <a:prstGeom prst="line">
            <a:avLst/>
          </a:prstGeom>
          <a:noFill/>
          <a:ln w="25400">
            <a:solidFill>
              <a:schemeClr val="accent1"/>
            </a:solidFill>
            <a:prstDash val="solid"/>
          </a:ln>
        </p:spPr>
      </p:sp>
      <p:sp>
        <p:nvSpPr>
          <p:cNvPr id="20" name="Card 2017"/>
          <p:cNvSpPr/>
          <p:nvPr/>
        </p:nvSpPr>
        <p:spPr>
          <a:xfrm>
            <a:off x="4814316" y="4251960"/>
            <a:ext cx="2560320" cy="1874520"/>
          </a:xfrm>
          <a:prstGeom prst="roundRect">
            <a:avLst>
              <a:gd name="adj" fmla="val 5854"/>
            </a:avLst>
          </a:prstGeom>
          <a:solidFill>
            <a:schemeClr val="bg1"/>
          </a:solidFill>
          <a:ln w="12700">
            <a:solidFill>
              <a:srgbClr val="D5DCE8"/>
            </a:solidFill>
            <a:prstDash val="solid"/>
          </a:ln>
        </p:spPr>
      </p:sp>
      <p:sp>
        <p:nvSpPr>
          <p:cNvPr id="21" name="The Transformer circle"/>
          <p:cNvSpPr/>
          <p:nvPr/>
        </p:nvSpPr>
        <p:spPr>
          <a:xfrm>
            <a:off x="5811012" y="3511296"/>
            <a:ext cx="566928" cy="566928"/>
          </a:xfrm>
          <a:prstGeom prst="ellipse">
            <a:avLst/>
          </a:prstGeom>
          <a:solidFill>
            <a:schemeClr val="accent1"/>
          </a:solidFill>
          <a:ln w="38100">
            <a:solidFill>
              <a:schemeClr val="bg1"/>
            </a:solidFill>
            <a:prstDash val="solid"/>
          </a:ln>
        </p:spPr>
      </p:sp>
      <p:pic>
        <p:nvPicPr>
          <p:cNvPr id="22" name="The Transformer icon" descr="The Transformer"/>
          <p:cNvPicPr>
            <a:picLocks noChangeAspect="1"/>
          </p:cNvPicPr>
          <p:nvPr/>
        </p:nvPicPr>
        <p:blipFill>
          <a:blip r:embed="rId6"/>
          <a:stretch>
            <a:fillRect/>
          </a:stretch>
        </p:blipFill>
        <p:spPr>
          <a:xfrm>
            <a:off x="5938571" y="3638855"/>
            <a:ext cx="311810" cy="311810"/>
          </a:xfrm>
          <a:prstGeom prst="rect">
            <a:avLst/>
          </a:prstGeom>
        </p:spPr>
      </p:pic>
      <p:sp>
        <p:nvSpPr>
          <p:cNvPr id="23" name="Text 2017"/>
          <p:cNvSpPr txBox="1"/>
          <p:nvPr/>
        </p:nvSpPr>
        <p:spPr>
          <a:xfrm>
            <a:off x="4951476" y="4343400"/>
            <a:ext cx="2286000" cy="1691640"/>
          </a:xfrm>
          <a:prstGeom prst="rect">
            <a:avLst/>
          </a:prstGeom>
          <a:noFill/>
          <a:ln/>
        </p:spPr>
        <p:txBody>
          <a:bodyPr wrap="square" lIns="0" tIns="0" rIns="0" bIns="0" rtlCol="0" anchor="t"/>
          <a:lstStyle/>
          <a:p>
            <a:pPr marL="0" indent="0">
              <a:buNone/>
            </a:pPr>
            <a:r>
              <a:rPr lang="en-US" sz="1800" b="1" dirty="0">
                <a:solidFill>
                  <a:schemeClr val="accent3"/>
                </a:solidFill>
                <a:latin typeface="Arial" pitchFamily="34" charset="0"/>
                <a:ea typeface="Arial" pitchFamily="34" charset="-122"/>
                <a:cs typeface="Arial" pitchFamily="34" charset="-120"/>
              </a:rPr>
              <a:t>2017  </a:t>
            </a:r>
            <a:r>
              <a:rPr lang="en-US" sz="1500" b="1" dirty="0">
                <a:solidFill>
                  <a:schemeClr val="tx1"/>
                </a:solidFill>
                <a:latin typeface="Arial" pitchFamily="34" charset="0"/>
                <a:ea typeface="Arial" pitchFamily="34" charset="-122"/>
                <a:cs typeface="Arial" pitchFamily="34" charset="-120"/>
              </a:rPr>
              <a:t>The Transformer</a:t>
            </a:r>
            <a:endParaRPr lang="en-US" sz="1800" dirty="0"/>
          </a:p>
          <a:p>
            <a:pPr marL="0" indent="0">
              <a:spcBef>
                <a:spcPts val="400"/>
              </a:spcBef>
              <a:buNone/>
            </a:pPr>
            <a:r>
              <a:rPr lang="en-US" sz="1400" dirty="0">
                <a:solidFill>
                  <a:schemeClr val="tx2"/>
                </a:solidFill>
              </a:rPr>
              <a:t>“Attention Is All You Need” sets the design for modern language models.</a:t>
            </a:r>
            <a:endParaRPr lang="en-US" sz="1800" dirty="0"/>
          </a:p>
          <a:p>
            <a:pPr marL="0" indent="0">
              <a:spcBef>
                <a:spcPts val="400"/>
              </a:spcBef>
              <a:buNone/>
            </a:pPr>
            <a:r>
              <a:rPr lang="en-US" sz="1200" b="1" dirty="0">
                <a:solidFill>
                  <a:schemeClr val="tx2"/>
                </a:solidFill>
              </a:rPr>
              <a:t>Vaswani et al., Google</a:t>
            </a:r>
            <a:endParaRPr lang="en-US" sz="1800" dirty="0"/>
          </a:p>
        </p:txBody>
      </p:sp>
      <p:sp>
        <p:nvSpPr>
          <p:cNvPr id="24" name="Stem 2020"/>
          <p:cNvSpPr/>
          <p:nvPr/>
        </p:nvSpPr>
        <p:spPr>
          <a:xfrm>
            <a:off x="7531608" y="3337560"/>
            <a:ext cx="0" cy="457200"/>
          </a:xfrm>
          <a:prstGeom prst="line">
            <a:avLst/>
          </a:prstGeom>
          <a:noFill/>
          <a:ln w="25400">
            <a:solidFill>
              <a:schemeClr val="accent1"/>
            </a:solidFill>
            <a:prstDash val="solid"/>
          </a:ln>
        </p:spPr>
      </p:sp>
      <p:sp>
        <p:nvSpPr>
          <p:cNvPr id="25" name="Card 2020"/>
          <p:cNvSpPr/>
          <p:nvPr/>
        </p:nvSpPr>
        <p:spPr>
          <a:xfrm>
            <a:off x="6251448" y="1463040"/>
            <a:ext cx="2560320" cy="1874520"/>
          </a:xfrm>
          <a:prstGeom prst="roundRect">
            <a:avLst>
              <a:gd name="adj" fmla="val 5854"/>
            </a:avLst>
          </a:prstGeom>
          <a:solidFill>
            <a:schemeClr val="bg1"/>
          </a:solidFill>
          <a:ln w="12700">
            <a:solidFill>
              <a:srgbClr val="D5DCE8"/>
            </a:solidFill>
            <a:prstDash val="solid"/>
          </a:ln>
        </p:spPr>
      </p:sp>
      <p:sp>
        <p:nvSpPr>
          <p:cNvPr id="26" name="GPT-3 and AlphaFold 2 circle"/>
          <p:cNvSpPr/>
          <p:nvPr/>
        </p:nvSpPr>
        <p:spPr>
          <a:xfrm>
            <a:off x="7248144" y="3511296"/>
            <a:ext cx="566928" cy="566928"/>
          </a:xfrm>
          <a:prstGeom prst="ellipse">
            <a:avLst/>
          </a:prstGeom>
          <a:solidFill>
            <a:schemeClr val="accent1"/>
          </a:solidFill>
          <a:ln w="38100">
            <a:solidFill>
              <a:schemeClr val="bg1"/>
            </a:solidFill>
            <a:prstDash val="solid"/>
          </a:ln>
        </p:spPr>
      </p:sp>
      <p:pic>
        <p:nvPicPr>
          <p:cNvPr id="27" name="GPT-3 and AlphaFold 2 icon" descr="GPT-3 and AlphaFold 2"/>
          <p:cNvPicPr>
            <a:picLocks noChangeAspect="1"/>
          </p:cNvPicPr>
          <p:nvPr/>
        </p:nvPicPr>
        <p:blipFill>
          <a:blip r:embed="rId7"/>
          <a:stretch>
            <a:fillRect/>
          </a:stretch>
        </p:blipFill>
        <p:spPr>
          <a:xfrm>
            <a:off x="7375703" y="3638855"/>
            <a:ext cx="311810" cy="311810"/>
          </a:xfrm>
          <a:prstGeom prst="rect">
            <a:avLst/>
          </a:prstGeom>
        </p:spPr>
      </p:pic>
      <p:sp>
        <p:nvSpPr>
          <p:cNvPr id="28" name="Text 2020"/>
          <p:cNvSpPr txBox="1"/>
          <p:nvPr/>
        </p:nvSpPr>
        <p:spPr>
          <a:xfrm>
            <a:off x="6388608" y="1554480"/>
            <a:ext cx="2286000" cy="1691640"/>
          </a:xfrm>
          <a:prstGeom prst="rect">
            <a:avLst/>
          </a:prstGeom>
          <a:noFill/>
          <a:ln/>
        </p:spPr>
        <p:txBody>
          <a:bodyPr wrap="square" lIns="0" tIns="0" rIns="0" bIns="0" rtlCol="0" anchor="t"/>
          <a:lstStyle/>
          <a:p>
            <a:pPr marL="0" indent="0">
              <a:buNone/>
            </a:pPr>
            <a:r>
              <a:rPr lang="en-US" sz="1800" b="1" dirty="0">
                <a:solidFill>
                  <a:schemeClr val="accent3"/>
                </a:solidFill>
                <a:latin typeface="Arial" pitchFamily="34" charset="0"/>
                <a:ea typeface="Arial" pitchFamily="34" charset="-122"/>
                <a:cs typeface="Arial" pitchFamily="34" charset="-120"/>
              </a:rPr>
              <a:t>2020  </a:t>
            </a:r>
            <a:r>
              <a:rPr lang="en-US" sz="1500" b="1" dirty="0">
                <a:solidFill>
                  <a:schemeClr val="tx1"/>
                </a:solidFill>
                <a:latin typeface="Arial" pitchFamily="34" charset="0"/>
                <a:ea typeface="Arial" pitchFamily="34" charset="-122"/>
                <a:cs typeface="Arial" pitchFamily="34" charset="-120"/>
              </a:rPr>
              <a:t>GPT-3 and AlphaFold 2</a:t>
            </a:r>
            <a:endParaRPr lang="en-US" sz="1800" dirty="0"/>
          </a:p>
          <a:p>
            <a:pPr marL="0" indent="0">
              <a:spcBef>
                <a:spcPts val="400"/>
              </a:spcBef>
              <a:buNone/>
            </a:pPr>
            <a:r>
              <a:rPr lang="en-US" sz="1400" dirty="0">
                <a:solidFill>
                  <a:schemeClr val="tx2"/>
                </a:solidFill>
              </a:rPr>
              <a:t>Scale unlocks new abilities; AI predicts protein shapes.</a:t>
            </a:r>
            <a:endParaRPr lang="en-US" sz="1800" dirty="0"/>
          </a:p>
          <a:p>
            <a:pPr marL="0" indent="0">
              <a:spcBef>
                <a:spcPts val="400"/>
              </a:spcBef>
              <a:buNone/>
            </a:pPr>
            <a:r>
              <a:rPr lang="en-US" sz="1200" b="1" dirty="0">
                <a:solidFill>
                  <a:schemeClr val="tx2"/>
                </a:solidFill>
              </a:rPr>
              <a:t>OpenAI, Google DeepMind</a:t>
            </a:r>
            <a:endParaRPr lang="en-US" sz="1800" dirty="0"/>
          </a:p>
        </p:txBody>
      </p:sp>
      <p:sp>
        <p:nvSpPr>
          <p:cNvPr id="29" name="Stem 2022"/>
          <p:cNvSpPr/>
          <p:nvPr/>
        </p:nvSpPr>
        <p:spPr>
          <a:xfrm>
            <a:off x="8968740" y="3794760"/>
            <a:ext cx="0" cy="457200"/>
          </a:xfrm>
          <a:prstGeom prst="line">
            <a:avLst/>
          </a:prstGeom>
          <a:noFill/>
          <a:ln w="25400">
            <a:solidFill>
              <a:schemeClr val="accent1"/>
            </a:solidFill>
            <a:prstDash val="solid"/>
          </a:ln>
        </p:spPr>
      </p:sp>
      <p:sp>
        <p:nvSpPr>
          <p:cNvPr id="30" name="Card 2022"/>
          <p:cNvSpPr/>
          <p:nvPr/>
        </p:nvSpPr>
        <p:spPr>
          <a:xfrm>
            <a:off x="7688580" y="4251960"/>
            <a:ext cx="2560320" cy="1874520"/>
          </a:xfrm>
          <a:prstGeom prst="roundRect">
            <a:avLst>
              <a:gd name="adj" fmla="val 5854"/>
            </a:avLst>
          </a:prstGeom>
          <a:solidFill>
            <a:schemeClr val="bg1"/>
          </a:solidFill>
          <a:ln w="12700">
            <a:solidFill>
              <a:srgbClr val="D5DCE8"/>
            </a:solidFill>
            <a:prstDash val="solid"/>
          </a:ln>
        </p:spPr>
      </p:sp>
      <p:sp>
        <p:nvSpPr>
          <p:cNvPr id="31" name="ChatGPT circle"/>
          <p:cNvSpPr/>
          <p:nvPr/>
        </p:nvSpPr>
        <p:spPr>
          <a:xfrm>
            <a:off x="8685276" y="3511296"/>
            <a:ext cx="566928" cy="566928"/>
          </a:xfrm>
          <a:prstGeom prst="ellipse">
            <a:avLst/>
          </a:prstGeom>
          <a:solidFill>
            <a:schemeClr val="accent1"/>
          </a:solidFill>
          <a:ln w="38100">
            <a:solidFill>
              <a:schemeClr val="bg1"/>
            </a:solidFill>
            <a:prstDash val="solid"/>
          </a:ln>
        </p:spPr>
      </p:sp>
      <p:pic>
        <p:nvPicPr>
          <p:cNvPr id="32" name="ChatGPT icon" descr="ChatGPT"/>
          <p:cNvPicPr>
            <a:picLocks noChangeAspect="1"/>
          </p:cNvPicPr>
          <p:nvPr/>
        </p:nvPicPr>
        <p:blipFill>
          <a:blip r:embed="rId8"/>
          <a:stretch>
            <a:fillRect/>
          </a:stretch>
        </p:blipFill>
        <p:spPr>
          <a:xfrm>
            <a:off x="8812835" y="3638855"/>
            <a:ext cx="311810" cy="311810"/>
          </a:xfrm>
          <a:prstGeom prst="rect">
            <a:avLst/>
          </a:prstGeom>
        </p:spPr>
      </p:pic>
      <p:sp>
        <p:nvSpPr>
          <p:cNvPr id="33" name="Text 2022"/>
          <p:cNvSpPr txBox="1"/>
          <p:nvPr/>
        </p:nvSpPr>
        <p:spPr>
          <a:xfrm>
            <a:off x="7825740" y="4343400"/>
            <a:ext cx="2286000" cy="1691640"/>
          </a:xfrm>
          <a:prstGeom prst="rect">
            <a:avLst/>
          </a:prstGeom>
          <a:noFill/>
          <a:ln/>
        </p:spPr>
        <p:txBody>
          <a:bodyPr wrap="square" lIns="0" tIns="0" rIns="0" bIns="0" rtlCol="0" anchor="t"/>
          <a:lstStyle/>
          <a:p>
            <a:pPr marL="0" indent="0">
              <a:buNone/>
            </a:pPr>
            <a:r>
              <a:rPr lang="en-US" sz="1800" b="1" dirty="0">
                <a:solidFill>
                  <a:schemeClr val="accent3"/>
                </a:solidFill>
                <a:latin typeface="Arial" pitchFamily="34" charset="0"/>
                <a:ea typeface="Arial" pitchFamily="34" charset="-122"/>
                <a:cs typeface="Arial" pitchFamily="34" charset="-120"/>
              </a:rPr>
              <a:t>2022  </a:t>
            </a:r>
            <a:r>
              <a:rPr lang="en-US" sz="1500" b="1" dirty="0">
                <a:solidFill>
                  <a:schemeClr val="tx1"/>
                </a:solidFill>
                <a:latin typeface="Arial" pitchFamily="34" charset="0"/>
                <a:ea typeface="Arial" pitchFamily="34" charset="-122"/>
                <a:cs typeface="Arial" pitchFamily="34" charset="-120"/>
              </a:rPr>
              <a:t>ChatGPT</a:t>
            </a:r>
            <a:endParaRPr lang="en-US" sz="1800" dirty="0"/>
          </a:p>
          <a:p>
            <a:pPr marL="0" indent="0">
              <a:spcBef>
                <a:spcPts val="400"/>
              </a:spcBef>
              <a:buNone/>
            </a:pPr>
            <a:r>
              <a:rPr lang="en-US" sz="1400" dirty="0">
                <a:solidFill>
                  <a:schemeClr val="tx2"/>
                </a:solidFill>
              </a:rPr>
              <a:t>Conversational AI reaches a global audience almost overnight.</a:t>
            </a:r>
            <a:endParaRPr lang="en-US" sz="1800" dirty="0"/>
          </a:p>
          <a:p>
            <a:pPr marL="0" indent="0">
              <a:spcBef>
                <a:spcPts val="400"/>
              </a:spcBef>
              <a:buNone/>
            </a:pPr>
            <a:r>
              <a:rPr lang="en-US" sz="1200" b="1" dirty="0">
                <a:solidFill>
                  <a:schemeClr val="tx2"/>
                </a:solidFill>
              </a:rPr>
              <a:t>OpenAI, Microsoft</a:t>
            </a:r>
            <a:endParaRPr lang="en-US" sz="1800" dirty="0"/>
          </a:p>
        </p:txBody>
      </p:sp>
      <p:sp>
        <p:nvSpPr>
          <p:cNvPr id="34" name="Stem 2023–2025"/>
          <p:cNvSpPr/>
          <p:nvPr/>
        </p:nvSpPr>
        <p:spPr>
          <a:xfrm>
            <a:off x="10405872" y="3337560"/>
            <a:ext cx="0" cy="457200"/>
          </a:xfrm>
          <a:prstGeom prst="line">
            <a:avLst/>
          </a:prstGeom>
          <a:noFill/>
          <a:ln w="25400">
            <a:solidFill>
              <a:schemeClr val="accent1"/>
            </a:solidFill>
            <a:prstDash val="solid"/>
          </a:ln>
        </p:spPr>
      </p:sp>
      <p:sp>
        <p:nvSpPr>
          <p:cNvPr id="35" name="Card 2023–2025"/>
          <p:cNvSpPr/>
          <p:nvPr/>
        </p:nvSpPr>
        <p:spPr>
          <a:xfrm>
            <a:off x="9079992" y="1463040"/>
            <a:ext cx="2560320" cy="1874520"/>
          </a:xfrm>
          <a:prstGeom prst="roundRect">
            <a:avLst>
              <a:gd name="adj" fmla="val 5854"/>
            </a:avLst>
          </a:prstGeom>
          <a:solidFill>
            <a:schemeClr val="bg1"/>
          </a:solidFill>
          <a:ln w="12700">
            <a:solidFill>
              <a:srgbClr val="D5DCE8"/>
            </a:solidFill>
            <a:prstDash val="solid"/>
          </a:ln>
        </p:spPr>
      </p:sp>
      <p:sp>
        <p:nvSpPr>
          <p:cNvPr id="36" name="Generative AI era circle"/>
          <p:cNvSpPr/>
          <p:nvPr/>
        </p:nvSpPr>
        <p:spPr>
          <a:xfrm>
            <a:off x="10122408" y="3511296"/>
            <a:ext cx="566928" cy="566928"/>
          </a:xfrm>
          <a:prstGeom prst="ellipse">
            <a:avLst/>
          </a:prstGeom>
          <a:solidFill>
            <a:schemeClr val="accent1"/>
          </a:solidFill>
          <a:ln w="38100">
            <a:solidFill>
              <a:schemeClr val="bg1"/>
            </a:solidFill>
            <a:prstDash val="solid"/>
          </a:ln>
        </p:spPr>
      </p:sp>
      <p:pic>
        <p:nvPicPr>
          <p:cNvPr id="37" name="Generative AI era icon" descr="Generative AI era"/>
          <p:cNvPicPr>
            <a:picLocks noChangeAspect="1"/>
          </p:cNvPicPr>
          <p:nvPr/>
        </p:nvPicPr>
        <p:blipFill>
          <a:blip r:embed="rId9"/>
          <a:stretch>
            <a:fillRect/>
          </a:stretch>
        </p:blipFill>
        <p:spPr>
          <a:xfrm>
            <a:off x="10249967" y="3638855"/>
            <a:ext cx="311810" cy="311810"/>
          </a:xfrm>
          <a:prstGeom prst="rect">
            <a:avLst/>
          </a:prstGeom>
        </p:spPr>
      </p:pic>
      <p:sp>
        <p:nvSpPr>
          <p:cNvPr id="38" name="Text 2023–2025"/>
          <p:cNvSpPr txBox="1"/>
          <p:nvPr/>
        </p:nvSpPr>
        <p:spPr>
          <a:xfrm>
            <a:off x="9217152" y="1554480"/>
            <a:ext cx="2286000" cy="1691640"/>
          </a:xfrm>
          <a:prstGeom prst="rect">
            <a:avLst/>
          </a:prstGeom>
          <a:noFill/>
          <a:ln/>
        </p:spPr>
        <p:txBody>
          <a:bodyPr wrap="square" lIns="0" tIns="0" rIns="0" bIns="0" rtlCol="0" anchor="t"/>
          <a:lstStyle/>
          <a:p>
            <a:pPr marL="0" indent="0">
              <a:buNone/>
            </a:pPr>
            <a:r>
              <a:rPr lang="en-US" sz="1800" b="1" dirty="0">
                <a:solidFill>
                  <a:schemeClr val="accent3"/>
                </a:solidFill>
                <a:latin typeface="Arial" pitchFamily="34" charset="0"/>
                <a:ea typeface="Arial" pitchFamily="34" charset="-122"/>
                <a:cs typeface="Arial" pitchFamily="34" charset="-120"/>
              </a:rPr>
              <a:t>2023–2025  </a:t>
            </a:r>
            <a:r>
              <a:rPr lang="en-US" sz="1500" b="1" dirty="0">
                <a:solidFill>
                  <a:schemeClr val="tx1"/>
                </a:solidFill>
                <a:latin typeface="Arial" pitchFamily="34" charset="0"/>
                <a:ea typeface="Arial" pitchFamily="34" charset="-122"/>
                <a:cs typeface="Arial" pitchFamily="34" charset="-120"/>
              </a:rPr>
              <a:t>Generative AI era</a:t>
            </a:r>
            <a:endParaRPr lang="en-US" sz="1800" dirty="0"/>
          </a:p>
          <a:p>
            <a:pPr marL="0" indent="0">
              <a:spcBef>
                <a:spcPts val="400"/>
              </a:spcBef>
              <a:buNone/>
            </a:pPr>
            <a:r>
              <a:rPr lang="en-US" sz="1400" dirty="0">
                <a:solidFill>
                  <a:schemeClr val="tx2"/>
                </a:solidFill>
              </a:rPr>
              <a:t>GPT-4, Claude, Gemini, Llama; two AI Nobel Prizes (2024); Math Olympiad gold (2025).</a:t>
            </a:r>
            <a:endParaRPr lang="en-US" sz="1800" dirty="0"/>
          </a:p>
          <a:p>
            <a:pPr marL="0" indent="0">
              <a:spcBef>
                <a:spcPts val="400"/>
              </a:spcBef>
              <a:buNone/>
            </a:pPr>
            <a:r>
              <a:rPr lang="en-US" sz="1200" b="1" dirty="0">
                <a:solidFill>
                  <a:schemeClr val="tx2"/>
                </a:solidFill>
              </a:rPr>
              <a:t>OpenAI, Anthropic, DeepMind, Meta</a:t>
            </a:r>
            <a:endParaRPr lang="en-US" sz="1800" dirty="0"/>
          </a:p>
        </p:txBody>
      </p:sp>
      <p:sp>
        <p:nvSpPr>
          <p:cNvPr id="39"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400" b="1" dirty="0">
                <a:solidFill>
                  <a:schemeClr val="bg1"/>
                </a:solidFill>
              </a:rPr>
              <a:t>What powered the comeback?</a:t>
            </a:r>
            <a:endParaRPr lang="en-US" sz="3400" dirty="0"/>
          </a:p>
        </p:txBody>
      </p:sp>
      <p:sp>
        <p:nvSpPr>
          <p:cNvPr id="3" name="Driver card 1"/>
          <p:cNvSpPr/>
          <p:nvPr/>
        </p:nvSpPr>
        <p:spPr>
          <a:xfrm>
            <a:off x="548640" y="1463040"/>
            <a:ext cx="3453384" cy="3931920"/>
          </a:xfrm>
          <a:prstGeom prst="roundRect">
            <a:avLst>
              <a:gd name="adj" fmla="val 3972"/>
            </a:avLst>
          </a:prstGeom>
          <a:solidFill>
            <a:schemeClr val="accent6"/>
          </a:solidFill>
          <a:ln/>
        </p:spPr>
      </p:sp>
      <p:sp>
        <p:nvSpPr>
          <p:cNvPr id="4" name="Better algorithms circle"/>
          <p:cNvSpPr/>
          <p:nvPr/>
        </p:nvSpPr>
        <p:spPr>
          <a:xfrm>
            <a:off x="822960" y="1737360"/>
            <a:ext cx="822960" cy="822960"/>
          </a:xfrm>
          <a:prstGeom prst="ellipse">
            <a:avLst/>
          </a:prstGeom>
          <a:solidFill>
            <a:schemeClr val="accent1"/>
          </a:solidFill>
          <a:ln w="38100">
            <a:solidFill>
              <a:schemeClr val="bg1"/>
            </a:solidFill>
            <a:prstDash val="solid"/>
          </a:ln>
        </p:spPr>
      </p:sp>
      <p:pic>
        <p:nvPicPr>
          <p:cNvPr id="5" name="Better algorithms icon" descr="Better algorithms"/>
          <p:cNvPicPr>
            <a:picLocks noChangeAspect="1"/>
          </p:cNvPicPr>
          <p:nvPr/>
        </p:nvPicPr>
        <p:blipFill>
          <a:blip r:embed="rId3"/>
          <a:stretch>
            <a:fillRect/>
          </a:stretch>
        </p:blipFill>
        <p:spPr>
          <a:xfrm>
            <a:off x="1008126" y="1922526"/>
            <a:ext cx="452628" cy="452628"/>
          </a:xfrm>
          <a:prstGeom prst="rect">
            <a:avLst/>
          </a:prstGeom>
        </p:spPr>
      </p:pic>
      <p:sp>
        <p:nvSpPr>
          <p:cNvPr id="6" name="Driver title 1"/>
          <p:cNvSpPr txBox="1"/>
          <p:nvPr/>
        </p:nvSpPr>
        <p:spPr>
          <a:xfrm>
            <a:off x="868680" y="2743200"/>
            <a:ext cx="2813304" cy="54864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Better algorithms</a:t>
            </a:r>
            <a:endParaRPr lang="en-US" sz="2200" dirty="0"/>
          </a:p>
        </p:txBody>
      </p:sp>
      <p:sp>
        <p:nvSpPr>
          <p:cNvPr id="7" name="Driver text 1"/>
          <p:cNvSpPr txBox="1"/>
          <p:nvPr/>
        </p:nvSpPr>
        <p:spPr>
          <a:xfrm>
            <a:off x="868680" y="3337560"/>
            <a:ext cx="2813304" cy="1280160"/>
          </a:xfrm>
          <a:prstGeom prst="rect">
            <a:avLst/>
          </a:prstGeom>
          <a:noFill/>
          <a:ln/>
        </p:spPr>
        <p:txBody>
          <a:bodyPr wrap="square" lIns="0" tIns="0" rIns="0" bIns="0" rtlCol="0" anchor="t"/>
          <a:lstStyle/>
          <a:p>
            <a:pPr marL="0" indent="0">
              <a:buNone/>
            </a:pPr>
            <a:r>
              <a:rPr lang="en-US" sz="1600" dirty="0">
                <a:solidFill>
                  <a:schemeClr val="tx2"/>
                </a:solidFill>
              </a:rPr>
              <a:t>Ideas that survived the winters, like backpropagation, grew into convolutional networks and transformers.</a:t>
            </a:r>
            <a:endParaRPr lang="en-US" sz="1600" dirty="0"/>
          </a:p>
        </p:txBody>
      </p:sp>
      <p:sp>
        <p:nvSpPr>
          <p:cNvPr id="8" name="Driver players 1"/>
          <p:cNvSpPr txBox="1"/>
          <p:nvPr/>
        </p:nvSpPr>
        <p:spPr>
          <a:xfrm>
            <a:off x="868680" y="4663440"/>
            <a:ext cx="2813304" cy="594360"/>
          </a:xfrm>
          <a:prstGeom prst="rect">
            <a:avLst/>
          </a:prstGeom>
          <a:noFill/>
          <a:ln/>
        </p:spPr>
        <p:txBody>
          <a:bodyPr wrap="square" lIns="0" tIns="0" rIns="0" bIns="0" rtlCol="0" anchor="b"/>
          <a:lstStyle/>
          <a:p>
            <a:pPr marL="0" indent="0">
              <a:buNone/>
            </a:pPr>
            <a:r>
              <a:rPr lang="en-US" sz="1400" b="1" dirty="0">
                <a:solidFill>
                  <a:schemeClr val="accent4"/>
                </a:solidFill>
              </a:rPr>
              <a:t>Hinton, LeCun, Bengio (Turing Award 2018)</a:t>
            </a:r>
            <a:endParaRPr lang="en-US" sz="1400" dirty="0"/>
          </a:p>
        </p:txBody>
      </p:sp>
      <p:sp>
        <p:nvSpPr>
          <p:cNvPr id="9" name="Driver card 2"/>
          <p:cNvSpPr/>
          <p:nvPr/>
        </p:nvSpPr>
        <p:spPr>
          <a:xfrm>
            <a:off x="4367784" y="1463040"/>
            <a:ext cx="3453384" cy="3931920"/>
          </a:xfrm>
          <a:prstGeom prst="roundRect">
            <a:avLst>
              <a:gd name="adj" fmla="val 3972"/>
            </a:avLst>
          </a:prstGeom>
          <a:solidFill>
            <a:schemeClr val="accent6"/>
          </a:solidFill>
          <a:ln/>
        </p:spPr>
      </p:sp>
      <p:sp>
        <p:nvSpPr>
          <p:cNvPr id="10" name="Big data circle"/>
          <p:cNvSpPr/>
          <p:nvPr/>
        </p:nvSpPr>
        <p:spPr>
          <a:xfrm>
            <a:off x="4642104" y="1737360"/>
            <a:ext cx="822960" cy="822960"/>
          </a:xfrm>
          <a:prstGeom prst="ellipse">
            <a:avLst/>
          </a:prstGeom>
          <a:solidFill>
            <a:schemeClr val="accent1"/>
          </a:solidFill>
          <a:ln w="38100">
            <a:solidFill>
              <a:schemeClr val="bg1"/>
            </a:solidFill>
            <a:prstDash val="solid"/>
          </a:ln>
        </p:spPr>
      </p:sp>
      <p:pic>
        <p:nvPicPr>
          <p:cNvPr id="11" name="Big data icon" descr="Big data"/>
          <p:cNvPicPr>
            <a:picLocks noChangeAspect="1"/>
          </p:cNvPicPr>
          <p:nvPr/>
        </p:nvPicPr>
        <p:blipFill>
          <a:blip r:embed="rId4"/>
          <a:stretch>
            <a:fillRect/>
          </a:stretch>
        </p:blipFill>
        <p:spPr>
          <a:xfrm>
            <a:off x="4827270" y="1922526"/>
            <a:ext cx="452628" cy="452628"/>
          </a:xfrm>
          <a:prstGeom prst="rect">
            <a:avLst/>
          </a:prstGeom>
        </p:spPr>
      </p:pic>
      <p:sp>
        <p:nvSpPr>
          <p:cNvPr id="12" name="Driver title 2"/>
          <p:cNvSpPr txBox="1"/>
          <p:nvPr/>
        </p:nvSpPr>
        <p:spPr>
          <a:xfrm>
            <a:off x="4687824" y="2743200"/>
            <a:ext cx="2813304" cy="54864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Big data</a:t>
            </a:r>
            <a:endParaRPr lang="en-US" sz="2200" dirty="0"/>
          </a:p>
        </p:txBody>
      </p:sp>
      <p:sp>
        <p:nvSpPr>
          <p:cNvPr id="13" name="Driver text 2"/>
          <p:cNvSpPr txBox="1"/>
          <p:nvPr/>
        </p:nvSpPr>
        <p:spPr>
          <a:xfrm>
            <a:off x="4687824" y="3337560"/>
            <a:ext cx="2813304" cy="1280160"/>
          </a:xfrm>
          <a:prstGeom prst="rect">
            <a:avLst/>
          </a:prstGeom>
          <a:noFill/>
          <a:ln/>
        </p:spPr>
        <p:txBody>
          <a:bodyPr wrap="square" lIns="0" tIns="0" rIns="0" bIns="0" rtlCol="0" anchor="t"/>
          <a:lstStyle/>
          <a:p>
            <a:pPr marL="0" indent="0">
              <a:buNone/>
            </a:pPr>
            <a:r>
              <a:rPr lang="en-US" sz="1600" dirty="0">
                <a:solidFill>
                  <a:schemeClr val="tx2"/>
                </a:solidFill>
              </a:rPr>
              <a:t>The internet created huge amounts of text and images. ImageNet (2009) gave models labelled examples to learn from.</a:t>
            </a:r>
            <a:endParaRPr lang="en-US" sz="1600" dirty="0"/>
          </a:p>
        </p:txBody>
      </p:sp>
      <p:sp>
        <p:nvSpPr>
          <p:cNvPr id="14" name="Driver players 2"/>
          <p:cNvSpPr txBox="1"/>
          <p:nvPr/>
        </p:nvSpPr>
        <p:spPr>
          <a:xfrm>
            <a:off x="4687824" y="4663440"/>
            <a:ext cx="2813304" cy="594360"/>
          </a:xfrm>
          <a:prstGeom prst="rect">
            <a:avLst/>
          </a:prstGeom>
          <a:noFill/>
          <a:ln/>
        </p:spPr>
        <p:txBody>
          <a:bodyPr wrap="square" lIns="0" tIns="0" rIns="0" bIns="0" rtlCol="0" anchor="b"/>
          <a:lstStyle/>
          <a:p>
            <a:pPr marL="0" indent="0">
              <a:buNone/>
            </a:pPr>
            <a:r>
              <a:rPr lang="en-US" sz="1400" b="1" dirty="0">
                <a:solidFill>
                  <a:schemeClr val="accent4"/>
                </a:solidFill>
              </a:rPr>
              <a:t>Fei-Fei Li, Stanford</a:t>
            </a:r>
            <a:endParaRPr lang="en-US" sz="1400" dirty="0"/>
          </a:p>
        </p:txBody>
      </p:sp>
      <p:sp>
        <p:nvSpPr>
          <p:cNvPr id="15" name="Driver card 3"/>
          <p:cNvSpPr/>
          <p:nvPr/>
        </p:nvSpPr>
        <p:spPr>
          <a:xfrm>
            <a:off x="8186928" y="1463040"/>
            <a:ext cx="3453384" cy="3931920"/>
          </a:xfrm>
          <a:prstGeom prst="roundRect">
            <a:avLst>
              <a:gd name="adj" fmla="val 3972"/>
            </a:avLst>
          </a:prstGeom>
          <a:solidFill>
            <a:schemeClr val="accent6"/>
          </a:solidFill>
          <a:ln/>
        </p:spPr>
      </p:sp>
      <p:sp>
        <p:nvSpPr>
          <p:cNvPr id="16" name="GPUs and the cloud circle"/>
          <p:cNvSpPr/>
          <p:nvPr/>
        </p:nvSpPr>
        <p:spPr>
          <a:xfrm>
            <a:off x="8461248" y="1737360"/>
            <a:ext cx="822960" cy="822960"/>
          </a:xfrm>
          <a:prstGeom prst="ellipse">
            <a:avLst/>
          </a:prstGeom>
          <a:solidFill>
            <a:schemeClr val="accent1"/>
          </a:solidFill>
          <a:ln w="38100">
            <a:solidFill>
              <a:schemeClr val="bg1"/>
            </a:solidFill>
            <a:prstDash val="solid"/>
          </a:ln>
        </p:spPr>
      </p:sp>
      <p:pic>
        <p:nvPicPr>
          <p:cNvPr id="17" name="GPUs and the cloud icon" descr="GPUs and the cloud"/>
          <p:cNvPicPr>
            <a:picLocks noChangeAspect="1"/>
          </p:cNvPicPr>
          <p:nvPr/>
        </p:nvPicPr>
        <p:blipFill>
          <a:blip r:embed="rId5"/>
          <a:stretch>
            <a:fillRect/>
          </a:stretch>
        </p:blipFill>
        <p:spPr>
          <a:xfrm>
            <a:off x="8646414" y="1922526"/>
            <a:ext cx="452628" cy="452628"/>
          </a:xfrm>
          <a:prstGeom prst="rect">
            <a:avLst/>
          </a:prstGeom>
        </p:spPr>
      </p:pic>
      <p:sp>
        <p:nvSpPr>
          <p:cNvPr id="18" name="Driver title 3"/>
          <p:cNvSpPr txBox="1"/>
          <p:nvPr/>
        </p:nvSpPr>
        <p:spPr>
          <a:xfrm>
            <a:off x="8506968" y="2743200"/>
            <a:ext cx="2813304" cy="548640"/>
          </a:xfrm>
          <a:prstGeom prst="rect">
            <a:avLst/>
          </a:prstGeom>
          <a:noFill/>
          <a:ln/>
        </p:spPr>
        <p:txBody>
          <a:bodyPr wrap="square" lIns="0" tIns="0" rIns="0" bIns="0" rtlCol="0" anchor="t"/>
          <a:lstStyle/>
          <a:p>
            <a:pPr marL="0" indent="0">
              <a:buNone/>
            </a:pPr>
            <a:r>
              <a:rPr lang="en-US" sz="2200" b="1" dirty="0">
                <a:solidFill>
                  <a:schemeClr val="tx1"/>
                </a:solidFill>
                <a:latin typeface="Arial" pitchFamily="34" charset="0"/>
                <a:ea typeface="Arial" pitchFamily="34" charset="-122"/>
                <a:cs typeface="Arial" pitchFamily="34" charset="-120"/>
              </a:rPr>
              <a:t>GPUs and the cloud</a:t>
            </a:r>
            <a:endParaRPr lang="en-US" sz="2200" dirty="0"/>
          </a:p>
        </p:txBody>
      </p:sp>
      <p:sp>
        <p:nvSpPr>
          <p:cNvPr id="19" name="Driver text 3"/>
          <p:cNvSpPr txBox="1"/>
          <p:nvPr/>
        </p:nvSpPr>
        <p:spPr>
          <a:xfrm>
            <a:off x="8506968" y="3337560"/>
            <a:ext cx="2813304" cy="1280160"/>
          </a:xfrm>
          <a:prstGeom prst="rect">
            <a:avLst/>
          </a:prstGeom>
          <a:noFill/>
          <a:ln/>
        </p:spPr>
        <p:txBody>
          <a:bodyPr wrap="square" lIns="0" tIns="0" rIns="0" bIns="0" rtlCol="0" anchor="t"/>
          <a:lstStyle/>
          <a:p>
            <a:pPr marL="0" indent="0">
              <a:buNone/>
            </a:pPr>
            <a:r>
              <a:rPr lang="en-US" sz="1600" dirty="0">
                <a:solidFill>
                  <a:schemeClr val="tx2"/>
                </a:solidFill>
              </a:rPr>
              <a:t>NVIDIA’s CUDA (2007) turned graphics chips into AI engines, and the cloud let anyone rent huge computing power.</a:t>
            </a:r>
            <a:endParaRPr lang="en-US" sz="1600" dirty="0"/>
          </a:p>
        </p:txBody>
      </p:sp>
      <p:sp>
        <p:nvSpPr>
          <p:cNvPr id="20" name="Driver players 3"/>
          <p:cNvSpPr txBox="1"/>
          <p:nvPr/>
        </p:nvSpPr>
        <p:spPr>
          <a:xfrm>
            <a:off x="8506968" y="4663440"/>
            <a:ext cx="2813304" cy="594360"/>
          </a:xfrm>
          <a:prstGeom prst="rect">
            <a:avLst/>
          </a:prstGeom>
          <a:noFill/>
          <a:ln/>
        </p:spPr>
        <p:txBody>
          <a:bodyPr wrap="square" lIns="0" tIns="0" rIns="0" bIns="0" rtlCol="0" anchor="b"/>
          <a:lstStyle/>
          <a:p>
            <a:pPr marL="0" indent="0">
              <a:buNone/>
            </a:pPr>
            <a:r>
              <a:rPr lang="en-US" sz="1400" b="1" dirty="0">
                <a:solidFill>
                  <a:schemeClr val="accent4"/>
                </a:solidFill>
              </a:rPr>
              <a:t>NVIDIA, AWS (2006), Microsoft Azure, Google Cloud</a:t>
            </a:r>
            <a:endParaRPr lang="en-US" sz="1400" dirty="0"/>
          </a:p>
        </p:txBody>
      </p:sp>
      <p:sp>
        <p:nvSpPr>
          <p:cNvPr id="21" name="Sources"/>
          <p:cNvSpPr txBox="1"/>
          <p:nvPr/>
        </p:nvSpPr>
        <p:spPr>
          <a:xfrm>
            <a:off x="548640" y="5715000"/>
            <a:ext cx="10424160" cy="457200"/>
          </a:xfrm>
          <a:prstGeom prst="rect">
            <a:avLst/>
          </a:prstGeom>
          <a:noFill/>
          <a:ln/>
        </p:spPr>
        <p:txBody>
          <a:bodyPr wrap="square" lIns="0" tIns="0" rIns="0" bIns="0" rtlCol="0" anchor="ctr"/>
          <a:lstStyle/>
          <a:p>
            <a:pPr marL="0" indent="0">
              <a:buNone/>
            </a:pPr>
            <a:r>
              <a:rPr lang="en-US" sz="1200" dirty="0">
                <a:solidFill>
                  <a:schemeClr val="accent6"/>
                </a:solidFill>
              </a:rPr>
              <a:t>Sources: Turing (1950); Lighthill Report (1973); Krizhevsky et al. (2012); Vaswani et al. (2017); NobelPrize.org (2024); Google DeepMind (2025)</a:t>
            </a:r>
            <a:endParaRPr lang="en-US" sz="1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theme/theme1.xml><?xml version="1.0" encoding="utf-8"?>
<a:theme xmlns:a="http://schemas.openxmlformats.org/drawingml/2006/main" name="Seasons of AI">
  <a:themeElements>
    <a:clrScheme name="Seasons of AI">
      <a:dk1>
        <a:srgbClr val="13203A"/>
      </a:dk1>
      <a:lt1>
        <a:srgbClr val="FFFFFF"/>
      </a:lt1>
      <a:dk2>
        <a:srgbClr val="34415A"/>
      </a:dk2>
      <a:lt2>
        <a:srgbClr val="F5F7FB"/>
      </a:lt2>
      <a:accent1>
        <a:srgbClr val="D9822B"/>
      </a:accent1>
      <a:accent2>
        <a:srgbClr val="3C7DC4"/>
      </a:accent2>
      <a:accent3>
        <a:srgbClr val="8A4A0C"/>
      </a:accent3>
      <a:accent4>
        <a:srgbClr val="1B4F87"/>
      </a:accent4>
      <a:accent5>
        <a:srgbClr val="FDEBD6"/>
      </a:accent5>
      <a:accent6>
        <a:srgbClr val="E8F1FB"/>
      </a:accent6>
      <a:hlink>
        <a:srgbClr val="1B4F87"/>
      </a:hlink>
      <a:folHlink>
        <a:srgbClr val="6B4FA0"/>
      </a:folHlink>
    </a:clrScheme>
    <a:fontScheme name="Seasons of A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623</Words>
  <Application>Microsoft Office PowerPoint</Application>
  <PresentationFormat>Widescreen</PresentationFormat>
  <Paragraphs>74</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Seasons of AI</vt:lpstr>
      <vt:lpstr>AI: From Inception to Today</vt:lpstr>
      <vt:lpstr>Big ideas, then two AI winters (1950–1993)</vt:lpstr>
      <vt:lpstr>The comeback: deep learning to generative AI</vt:lpstr>
      <vt:lpstr>What powered the comeback?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From Inception to Today</dc:title>
  <dc:subject>PptxGenJS Presentation</dc:subject>
  <dc:creator>PptxGenJS</dc:creator>
  <cp:lastModifiedBy>Bijay Dahal</cp:lastModifiedBy>
  <cp:revision>1</cp:revision>
  <dcterms:created xsi:type="dcterms:W3CDTF">2026-10-25T23:45:11Z</dcterms:created>
  <dcterms:modified xsi:type="dcterms:W3CDTF">2026-10-25T23:47:47Z</dcterms:modified>
</cp:coreProperties>
</file>